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5" r:id="rId13"/>
    <p:sldId id="266" r:id="rId14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PT Mono" panose="020B0604020202020204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iml5qiCSj3k9PFfL3kPWsBeWI5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36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9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Купувачите търсят качество, но нямат лесен начин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да открият стопанства близо до тях.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Липсата на директна връзка принуждава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производителите да разчитат на прекупвачи,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което изсмуква печалбите им и изкуствено оскъпява продуктите.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bg-BG" altLang="bg-BG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" name="Google Shape;69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382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598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jp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jpg"/><Relationship Id="rId5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39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3.png"/><Relationship Id="rId7" Type="http://schemas.openxmlformats.org/officeDocument/2006/relationships/image" Target="../media/image36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42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5.png"/><Relationship Id="rId5" Type="http://schemas.openxmlformats.org/officeDocument/2006/relationships/image" Target="../media/image35.png"/><Relationship Id="rId15" Type="http://schemas.openxmlformats.org/officeDocument/2006/relationships/image" Target="../media/image41.png"/><Relationship Id="rId10" Type="http://schemas.openxmlformats.org/officeDocument/2006/relationships/image" Target="../media/image29.png"/><Relationship Id="rId19" Type="http://schemas.openxmlformats.org/officeDocument/2006/relationships/image" Target="../media/image21.png"/><Relationship Id="rId4" Type="http://schemas.openxmlformats.org/officeDocument/2006/relationships/image" Target="../media/image34.png"/><Relationship Id="rId9" Type="http://schemas.openxmlformats.org/officeDocument/2006/relationships/image" Target="../media/image37.png"/><Relationship Id="rId1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2250" y="65314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321019" y="257175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1743074" y="208053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250" dirty="0" err="1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NaturaLinka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8в</a:t>
            </a:r>
            <a:r>
              <a:rPr lang="en-GB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 </a:t>
            </a: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елит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0" y="452814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A green circle with lines and circl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76058" y="-3013975"/>
            <a:ext cx="6720928" cy="6442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3" descr="A yellow circle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86326" y="-6883855"/>
            <a:ext cx="14460770" cy="1446077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5829300" y="2147888"/>
            <a:ext cx="5100638" cy="510063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95938" y="1776413"/>
            <a:ext cx="3548063" cy="336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2571750"/>
            <a:ext cx="2324100" cy="202406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871538" y="49053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Цел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проекта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1353951" y="2063195"/>
            <a:ext cx="2944905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-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По-голяма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свързаност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между производители 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купувачи</a:t>
            </a:r>
            <a:endParaRPr lang="en-GB" sz="2000" dirty="0">
              <a:solidFill>
                <a:schemeClr val="bg1"/>
              </a:solidFill>
              <a:latin typeface="+mn-lt"/>
            </a:endParaRPr>
          </a:p>
          <a:p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  <a:p>
            <a:r>
              <a:rPr lang="en-US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-</a:t>
            </a:r>
            <a:r>
              <a:rPr lang="bg-BG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Стимулиране на местната икономика</a:t>
            </a:r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2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722017" y="-1423569"/>
            <a:ext cx="4066523" cy="40475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" y="-6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244544" y="-2304674"/>
            <a:ext cx="2239782" cy="219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-3"/>
            <a:ext cx="233838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5075" y="1766888"/>
            <a:ext cx="2828925" cy="33766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871538" y="426244"/>
            <a:ext cx="7640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4500"/>
            </a:pPr>
            <a:r>
              <a:rPr lang="az-Cyrl-AZ" sz="4800" dirty="0">
                <a:solidFill>
                  <a:schemeClr val="bg1"/>
                </a:solidFill>
              </a:rPr>
              <a:t>Проблем</a:t>
            </a:r>
            <a:endParaRPr sz="45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584252" y="2282455"/>
            <a:ext cx="59754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Прекупвачите изсмукват печалбите на фермерите и оскъпяват храната, докато купувачите все още нямат лесен и директен достъп до качествени местни продукти.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10" name="Google Shape;135;p1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49705" y="205047"/>
            <a:ext cx="2389139" cy="19403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4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590070" y="-5959528"/>
            <a:ext cx="9286035" cy="9286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81438" y="1900238"/>
            <a:ext cx="5262563" cy="324326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71537" y="83233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bg-BG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ашето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chemeClr val="bg1"/>
                </a:solidFill>
                <a:latin typeface="PT Mono"/>
                <a:ea typeface="PT Mono"/>
                <a:cs typeface="PT Mono"/>
                <a:sym typeface="PT Mono"/>
              </a:rPr>
              <a:t>решение</a:t>
            </a:r>
            <a:r>
              <a:rPr lang="en-US" sz="4500" dirty="0">
                <a:solidFill>
                  <a:schemeClr val="bg1"/>
                </a:solidFill>
                <a:latin typeface="PT Mono"/>
                <a:ea typeface="PT Mono"/>
                <a:cs typeface="PT Mono"/>
                <a:sym typeface="PT Mono"/>
              </a:rPr>
              <a:t>: </a:t>
            </a:r>
            <a:r>
              <a:rPr lang="en-US" sz="4500" b="1" dirty="0" err="1">
                <a:solidFill>
                  <a:schemeClr val="bg1"/>
                </a:solidFill>
              </a:rPr>
              <a:t>NaturaLinka</a:t>
            </a:r>
            <a:endParaRPr lang="en-US" sz="4500" b="1"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" name="Google Shape;56;p4" descr="A black and gold circle with a dot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63713" y="2011875"/>
            <a:ext cx="6160575" cy="616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126512" y="1531088"/>
            <a:ext cx="5018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13793" y="2070993"/>
            <a:ext cx="526256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err="1">
                <a:solidFill>
                  <a:schemeClr val="bg1"/>
                </a:solidFill>
              </a:rPr>
              <a:t>NaturaLinka</a:t>
            </a:r>
            <a:r>
              <a:rPr lang="ru-RU" sz="2000" dirty="0">
                <a:solidFill>
                  <a:schemeClr val="bg1"/>
                </a:solidFill>
              </a:rPr>
              <a:t> е </a:t>
            </a:r>
            <a:r>
              <a:rPr lang="ru-RU" sz="2000" dirty="0" err="1">
                <a:solidFill>
                  <a:schemeClr val="bg1"/>
                </a:solidFill>
              </a:rPr>
              <a:t>marketplace</a:t>
            </a:r>
            <a:r>
              <a:rPr lang="ru-RU" sz="2000" dirty="0">
                <a:solidFill>
                  <a:schemeClr val="bg1"/>
                </a:solidFill>
              </a:rPr>
              <a:t> платформа</a:t>
            </a:r>
            <a:r>
              <a:rPr lang="en-GB" sz="2000" dirty="0">
                <a:solidFill>
                  <a:schemeClr val="bg1"/>
                </a:solidFill>
              </a:rPr>
              <a:t>, </a:t>
            </a:r>
            <a:r>
              <a:rPr lang="bg-BG" sz="2000" dirty="0">
                <a:solidFill>
                  <a:schemeClr val="bg1"/>
                </a:solidFill>
              </a:rPr>
              <a:t>предоставяща д</a:t>
            </a:r>
            <a:r>
              <a:rPr lang="ru-RU" sz="2000" dirty="0">
                <a:solidFill>
                  <a:schemeClr val="bg1"/>
                </a:solidFill>
              </a:rPr>
              <a:t>иректна дигитална връзка между производител и </a:t>
            </a:r>
            <a:r>
              <a:rPr lang="ru-RU" sz="2000" dirty="0" smtClean="0">
                <a:solidFill>
                  <a:schemeClr val="bg1"/>
                </a:solidFill>
              </a:rPr>
              <a:t>потребител</a:t>
            </a:r>
            <a:r>
              <a:rPr lang="en-GB" sz="2000" dirty="0" smtClean="0">
                <a:solidFill>
                  <a:schemeClr val="bg1"/>
                </a:solidFill>
              </a:rPr>
              <a:t>. </a:t>
            </a:r>
            <a:r>
              <a:rPr lang="bg-BG" sz="2000" dirty="0">
                <a:solidFill>
                  <a:schemeClr val="bg1"/>
                </a:solidFill>
              </a:rPr>
              <a:t>Тя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насърчава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икономическото</a:t>
            </a:r>
            <a:r>
              <a:rPr lang="ru-RU" sz="2000" dirty="0">
                <a:solidFill>
                  <a:schemeClr val="bg1"/>
                </a:solidFill>
              </a:rPr>
              <a:t> развитие на </a:t>
            </a:r>
            <a:r>
              <a:rPr lang="ru-RU" sz="2000" dirty="0" err="1">
                <a:solidFill>
                  <a:schemeClr val="bg1"/>
                </a:solidFill>
              </a:rPr>
              <a:t>селските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райони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  <a:endParaRPr lang="en-US" sz="2000" dirty="0"/>
          </a:p>
          <a:p>
            <a:endParaRPr lang="en-US" dirty="0"/>
          </a:p>
        </p:txBody>
      </p:sp>
      <p:pic>
        <p:nvPicPr>
          <p:cNvPr id="12" name="Google Shape;145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98926" y="1531087"/>
            <a:ext cx="2886296" cy="2665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/>
          <p:nvPr/>
        </p:nvSpPr>
        <p:spPr>
          <a:xfrm>
            <a:off x="871538" y="495300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Как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работи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проектът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?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1" y="10085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1974111" y="2055647"/>
            <a:ext cx="49583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</a:rPr>
              <a:t>Качване на обяви с цени, продукти и локации, както и търсене с филтри за вид продукт, цена и локация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6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35048" y="2158626"/>
            <a:ext cx="8979179" cy="8979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6" descr="A green circle with lines and dot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285594" y="1730001"/>
            <a:ext cx="5550087" cy="5550087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2428875" y="1109663"/>
            <a:ext cx="4291013" cy="14620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6"/>
          <p:cNvSpPr/>
          <p:nvPr/>
        </p:nvSpPr>
        <p:spPr>
          <a:xfrm>
            <a:off x="640556" y="183356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642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Демо</a:t>
            </a:r>
            <a:r>
              <a:rPr lang="en-US" sz="525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endParaRPr sz="5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6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2095" y="161725"/>
            <a:ext cx="1553822" cy="313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7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114977" y="2000250"/>
            <a:ext cx="6686550" cy="66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 descr="A screen shot of a clock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1607" y="-329453"/>
            <a:ext cx="4133896" cy="6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7"/>
          <p:cNvSpPr/>
          <p:nvPr/>
        </p:nvSpPr>
        <p:spPr>
          <a:xfrm>
            <a:off x="871538" y="500063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технологии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56659" y="1827655"/>
            <a:ext cx="6368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Backend – Python, Flask;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Database – </a:t>
            </a:r>
            <a:r>
              <a:rPr lang="en-US" sz="2400" dirty="0" err="1">
                <a:solidFill>
                  <a:schemeClr val="bg1"/>
                </a:solidFill>
              </a:rPr>
              <a:t>Pymongo</a:t>
            </a:r>
            <a:r>
              <a:rPr lang="en-US" sz="2400" dirty="0">
                <a:solidFill>
                  <a:schemeClr val="bg1"/>
                </a:solidFill>
              </a:rPr>
              <a:t> (Driver for MongoDB);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Frontend – Vue.js, Tailwind.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6272213" y="3495675"/>
            <a:ext cx="3309938" cy="3309938"/>
          </a:xfrm>
          <a:prstGeom prst="ellipse">
            <a:avLst/>
          </a:prstGeom>
          <a:solidFill>
            <a:srgbClr val="FFB803">
              <a:alpha val="6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213" y="4763"/>
            <a:ext cx="2033588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/>
          <p:nvPr/>
        </p:nvSpPr>
        <p:spPr>
          <a:xfrm>
            <a:off x="871538" y="500063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 на работа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37627" y="3582619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71538" y="1250454"/>
            <a:ext cx="6635047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1. </a:t>
            </a:r>
            <a:r>
              <a:rPr lang="ru-RU" sz="1800" b="1" dirty="0">
                <a:solidFill>
                  <a:schemeClr val="bg1"/>
                </a:solidFill>
              </a:rPr>
              <a:t>Анализ:</a:t>
            </a:r>
            <a:r>
              <a:rPr lang="ru-RU" sz="1800" dirty="0">
                <a:solidFill>
                  <a:schemeClr val="bg1"/>
                </a:solidFill>
              </a:rPr>
              <a:t> Проучване на нуждите на малките производители.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2. </a:t>
            </a:r>
            <a:r>
              <a:rPr lang="ru-RU" sz="1800" b="1" dirty="0">
                <a:solidFill>
                  <a:schemeClr val="bg1"/>
                </a:solidFill>
              </a:rPr>
              <a:t>Архитектура:</a:t>
            </a:r>
            <a:r>
              <a:rPr lang="ru-RU" sz="1800" dirty="0">
                <a:solidFill>
                  <a:schemeClr val="bg1"/>
                </a:solidFill>
              </a:rPr>
              <a:t> Дизайн на базата данни и връзките между потребители.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3. </a:t>
            </a:r>
            <a:r>
              <a:rPr lang="ru-RU" sz="1800" b="1" dirty="0">
                <a:solidFill>
                  <a:schemeClr val="bg1"/>
                </a:solidFill>
              </a:rPr>
              <a:t>Разработка:</a:t>
            </a:r>
            <a:r>
              <a:rPr lang="ru-RU" sz="1800" dirty="0">
                <a:solidFill>
                  <a:schemeClr val="bg1"/>
                </a:solidFill>
              </a:rPr>
              <a:t> Изграждане на API, интеграция на MongoDB и LocalMatch AI.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4. </a:t>
            </a:r>
            <a:r>
              <a:rPr lang="ru-RU" sz="1800" b="1" dirty="0">
                <a:solidFill>
                  <a:schemeClr val="bg1"/>
                </a:solidFill>
              </a:rPr>
              <a:t>Тестване:</a:t>
            </a:r>
            <a:r>
              <a:rPr lang="ru-RU" sz="1800" dirty="0">
                <a:solidFill>
                  <a:schemeClr val="bg1"/>
                </a:solidFill>
              </a:rPr>
              <a:t> Валидиране на потребителския път и оптимизация на алгоритъма.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12" name="Google Shape;138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42009" y="3173909"/>
            <a:ext cx="2997316" cy="1983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745718" y="70785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Н</a:t>
            </a:r>
            <a:r>
              <a:rPr lang="en-US" sz="4500" dirty="0" err="1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ашето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r>
              <a:rPr lang="bg-BG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 като екип</a:t>
            </a:r>
            <a:endParaRPr sz="4500" dirty="0">
              <a:solidFill>
                <a:schemeClr val="bg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7060" y="282416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59603" y="1748456"/>
            <a:ext cx="44095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ru-RU" sz="2400" dirty="0">
                <a:solidFill>
                  <a:schemeClr val="bg1"/>
                </a:solidFill>
              </a:rPr>
              <a:t>Започнахме от нулата и се сблъскахме с реалността – времето не ни стигна за пълна интеграция. Научихме се на екипна работа под напрежение и преминахме през първото си истинско 'бойно кръщене' в </a:t>
            </a:r>
            <a:r>
              <a:rPr lang="ru-RU" sz="2400" dirty="0" smtClean="0">
                <a:solidFill>
                  <a:schemeClr val="bg1"/>
                </a:solidFill>
              </a:rPr>
              <a:t>ТУЕС</a:t>
            </a:r>
            <a:r>
              <a:rPr lang="en-US" sz="2400" dirty="0" smtClean="0">
                <a:solidFill>
                  <a:schemeClr val="bg1"/>
                </a:solidFill>
              </a:rPr>
              <a:t>.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121" y="1951297"/>
            <a:ext cx="3521740" cy="2641305"/>
          </a:xfrm>
          <a:prstGeom prst="rect">
            <a:avLst/>
          </a:prstGeom>
        </p:spPr>
      </p:pic>
      <p:pic>
        <p:nvPicPr>
          <p:cNvPr id="12" name="Google Shape;137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166" y="3018184"/>
            <a:ext cx="2090518" cy="2191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5;p2" descr="A green circle with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445259" y="3618776"/>
            <a:ext cx="4066523" cy="4047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13841" y="-1603196"/>
            <a:ext cx="8864569" cy="886456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640556" y="33553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az-Cyrl-AZ" sz="4500" dirty="0">
                <a:solidFill>
                  <a:schemeClr val="bg1"/>
                </a:solidFill>
                <a:latin typeface="PT Mono" panose="020B0604020202020204" charset="0"/>
              </a:rPr>
              <a:t>Менторско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56" y="1475321"/>
            <a:ext cx="3784522" cy="2838391"/>
          </a:xfrm>
          <a:prstGeom prst="rect">
            <a:avLst/>
          </a:prstGeom>
        </p:spPr>
      </p:pic>
      <p:pic>
        <p:nvPicPr>
          <p:cNvPr id="7" name="Google Shape;135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193963" y="3135936"/>
            <a:ext cx="2308151" cy="187454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5681139" y="2049116"/>
            <a:ext cx="252651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</a:rPr>
              <a:t>Георги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</a:rPr>
              <a:t>Трайков</a:t>
            </a:r>
            <a:r>
              <a:rPr lang="en-US" sz="2400" dirty="0" smtClean="0">
                <a:solidFill>
                  <a:schemeClr val="bg1"/>
                </a:solidFill>
              </a:rPr>
              <a:t>, </a:t>
            </a:r>
            <a:r>
              <a:rPr lang="en-US" sz="2400" dirty="0" err="1" smtClean="0">
                <a:solidFill>
                  <a:schemeClr val="bg1"/>
                </a:solidFill>
              </a:rPr>
              <a:t>Випуск</a:t>
            </a:r>
            <a:r>
              <a:rPr lang="en-US" sz="2400" dirty="0" smtClean="0">
                <a:solidFill>
                  <a:schemeClr val="bg1"/>
                </a:solidFill>
              </a:rPr>
              <a:t> 2023,  </a:t>
            </a:r>
            <a:r>
              <a:rPr lang="en-US" sz="2400" dirty="0">
                <a:solidFill>
                  <a:schemeClr val="bg1"/>
                </a:solidFill>
              </a:rPr>
              <a:t>Software engineer at Trading 212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085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56;p4" descr="A black and gold circle with a dot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103" y="2233762"/>
            <a:ext cx="6160575" cy="616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588003" y="8486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7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22472" y="3053343"/>
            <a:ext cx="2398541" cy="20901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09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1042987" y="-1042987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-148246" y="2182672"/>
            <a:ext cx="95905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500" dirty="0">
                <a:solidFill>
                  <a:schemeClr val="bg1"/>
                </a:solidFill>
              </a:rPr>
              <a:t>Какво научихме от Hack TUES?</a:t>
            </a:r>
            <a:endParaRPr lang="en-US" sz="4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32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0" descr="A circular object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21475" y="428319"/>
            <a:ext cx="10786950" cy="1078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"/>
          <p:cNvSpPr/>
          <p:nvPr/>
        </p:nvSpPr>
        <p:spPr>
          <a:xfrm>
            <a:off x="871538" y="2047875"/>
            <a:ext cx="7862888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за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000" dirty="0" smtClean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</a:p>
        </p:txBody>
      </p:sp>
      <p:sp>
        <p:nvSpPr>
          <p:cNvPr id="122" name="Google Shape;122;p10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1" y="451552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19841" y="2685420"/>
            <a:ext cx="2299196" cy="22366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010" y="802482"/>
            <a:ext cx="1314450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76475" y="768706"/>
            <a:ext cx="1643063" cy="128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88744" y="2305050"/>
            <a:ext cx="1576388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50556" y="2897980"/>
            <a:ext cx="1619250" cy="14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66900" y="2195513"/>
            <a:ext cx="1647825" cy="1338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39189" y="1435145"/>
            <a:ext cx="2052637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1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42807" y="1777734"/>
            <a:ext cx="1589791" cy="166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1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297449" y="2648611"/>
            <a:ext cx="2324100" cy="1538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1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007409" y="3838575"/>
            <a:ext cx="809625" cy="9667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1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193644" y="566285"/>
            <a:ext cx="3771900" cy="138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1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424488" y="3462338"/>
            <a:ext cx="638175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1" descr="preencoded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143875" y="1047750"/>
            <a:ext cx="581025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1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656810" y="3417755"/>
            <a:ext cx="852488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1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919788" y="4300538"/>
            <a:ext cx="881063" cy="681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1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60431" y="3284504"/>
            <a:ext cx="1804988" cy="17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1" descr="preencoded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453575" y="961214"/>
            <a:ext cx="1023938" cy="2066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1" descr="preencoded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673659" y="2144646"/>
            <a:ext cx="1333500" cy="116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1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1"/>
          <p:cNvSpPr/>
          <p:nvPr/>
        </p:nvSpPr>
        <p:spPr>
          <a:xfrm>
            <a:off x="871538" y="2762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Добрита за използване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3631411" y="4517493"/>
            <a:ext cx="1881178" cy="1996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291</Words>
  <Application>Microsoft Office PowerPoint</Application>
  <PresentationFormat>On-screen Show (16:9)</PresentationFormat>
  <Paragraphs>52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PT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PptxGenJS</dc:creator>
  <cp:lastModifiedBy>Nikola Ivanov</cp:lastModifiedBy>
  <cp:revision>22</cp:revision>
  <dcterms:created xsi:type="dcterms:W3CDTF">2026-01-15T12:11:17Z</dcterms:created>
  <dcterms:modified xsi:type="dcterms:W3CDTF">2026-03-28T00:29:53Z</dcterms:modified>
</cp:coreProperties>
</file>