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5" r:id="rId13"/>
    <p:sldId id="266" r:id="rId14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PT Mono" panose="020B0604020202020204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iml5qiCSj3k9PFfL3kPWsBeWI5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6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Купувачите търсят качество, но нямат лесен начин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g-BG" altLang="bg-BG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да открият стопанства близо до тях.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Липсата на директна връзка принуждава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производителите да разчитат на прекупвачи,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което изсмуква печалбите им и изкуствено оскъпява продуктите.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bg-BG" altLang="bg-BG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63823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5983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8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0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38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3.png"/><Relationship Id="rId7" Type="http://schemas.openxmlformats.org/officeDocument/2006/relationships/image" Target="../media/image35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1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25.png"/><Relationship Id="rId5" Type="http://schemas.openxmlformats.org/officeDocument/2006/relationships/image" Target="../media/image34.png"/><Relationship Id="rId15" Type="http://schemas.openxmlformats.org/officeDocument/2006/relationships/image" Target="../media/image40.png"/><Relationship Id="rId10" Type="http://schemas.openxmlformats.org/officeDocument/2006/relationships/image" Target="../media/image29.png"/><Relationship Id="rId19" Type="http://schemas.openxmlformats.org/officeDocument/2006/relationships/image" Target="../media/image21.png"/><Relationship Id="rId4" Type="http://schemas.openxmlformats.org/officeDocument/2006/relationships/image" Target="../media/image33.png"/><Relationship Id="rId9" Type="http://schemas.openxmlformats.org/officeDocument/2006/relationships/image" Target="../media/image36.png"/><Relationship Id="rId1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2250" y="65314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321019" y="2571750"/>
            <a:ext cx="5556437" cy="55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1743074" y="2080532"/>
            <a:ext cx="56578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25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NaturaLinka</a:t>
            </a:r>
            <a:endParaRPr sz="525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2628899" y="2637064"/>
            <a:ext cx="3886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T Mono"/>
              <a:buNone/>
            </a:pPr>
            <a:r>
              <a:rPr lang="bg-BG" sz="3600" dirty="0">
                <a:solidFill>
                  <a:srgbClr val="FFFFFF"/>
                </a:solidFill>
                <a:latin typeface="PT Mono"/>
                <a:ea typeface="Calibri"/>
                <a:cs typeface="Calibri"/>
                <a:sym typeface="PT Mono"/>
              </a:rPr>
              <a:t>8в</a:t>
            </a:r>
            <a:r>
              <a:rPr lang="en-GB" sz="3600" dirty="0">
                <a:solidFill>
                  <a:srgbClr val="FFFFFF"/>
                </a:solidFill>
                <a:latin typeface="PT Mono"/>
                <a:ea typeface="Calibri"/>
                <a:cs typeface="Calibri"/>
                <a:sym typeface="PT Mono"/>
              </a:rPr>
              <a:t> </a:t>
            </a:r>
            <a:r>
              <a:rPr lang="bg-BG" sz="3600" dirty="0">
                <a:solidFill>
                  <a:srgbClr val="FFFFFF"/>
                </a:solidFill>
                <a:latin typeface="PT Mono"/>
                <a:ea typeface="Calibri"/>
                <a:cs typeface="Calibri"/>
                <a:sym typeface="PT Mono"/>
              </a:rPr>
              <a:t>елит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543300" y="3714750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1410" y="4528148"/>
            <a:ext cx="1881178" cy="199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A green circle with lines and circle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76058" y="-3013975"/>
            <a:ext cx="6720928" cy="6442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 descr="A yellow circle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786326" y="-6883855"/>
            <a:ext cx="14460770" cy="1446077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829300" y="2147888"/>
            <a:ext cx="5100638" cy="510063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95938" y="1776413"/>
            <a:ext cx="3548063" cy="3367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571750"/>
            <a:ext cx="2324100" cy="202406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Цел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проекта</a:t>
            </a:r>
            <a:endParaRPr sz="4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1353951" y="2063195"/>
            <a:ext cx="294490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n-lt"/>
                <a:ea typeface="PT Mono"/>
                <a:cs typeface="PT Mono"/>
                <a:sym typeface="PT Mono"/>
              </a:rPr>
              <a:t>-</a:t>
            </a:r>
            <a:r>
              <a:rPr lang="ru-RU" sz="2000" dirty="0" err="1">
                <a:solidFill>
                  <a:schemeClr val="bg1"/>
                </a:solidFill>
                <a:latin typeface="+mn-lt"/>
              </a:rPr>
              <a:t>По-голяма</a:t>
            </a:r>
            <a:r>
              <a:rPr lang="ru-RU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+mn-lt"/>
              </a:rPr>
              <a:t>свързаност</a:t>
            </a:r>
            <a:r>
              <a:rPr lang="ru-RU" sz="2000" dirty="0">
                <a:solidFill>
                  <a:schemeClr val="bg1"/>
                </a:solidFill>
                <a:latin typeface="+mn-lt"/>
              </a:rPr>
              <a:t> между производители и</a:t>
            </a:r>
            <a:r>
              <a:rPr lang="en-GB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+mn-lt"/>
              </a:rPr>
              <a:t>купувачи</a:t>
            </a:r>
            <a:endParaRPr lang="en-GB" sz="2000" dirty="0">
              <a:solidFill>
                <a:schemeClr val="bg1"/>
              </a:solidFill>
              <a:latin typeface="+mn-lt"/>
            </a:endParaRPr>
          </a:p>
          <a:p>
            <a:endParaRPr lang="en-US" sz="2000" dirty="0">
              <a:solidFill>
                <a:schemeClr val="bg1"/>
              </a:solidFill>
              <a:latin typeface="+mn-lt"/>
              <a:ea typeface="PT Mono"/>
              <a:cs typeface="PT Mono"/>
              <a:sym typeface="PT Mono"/>
            </a:endParaRPr>
          </a:p>
          <a:p>
            <a:r>
              <a:rPr lang="en-US" sz="2000" dirty="0">
                <a:solidFill>
                  <a:schemeClr val="bg1"/>
                </a:solidFill>
                <a:latin typeface="+mn-lt"/>
                <a:ea typeface="PT Mono"/>
                <a:cs typeface="PT Mono"/>
                <a:sym typeface="PT Mono"/>
              </a:rPr>
              <a:t>-</a:t>
            </a:r>
            <a:r>
              <a:rPr lang="bg-BG" sz="2000" dirty="0">
                <a:solidFill>
                  <a:schemeClr val="bg1"/>
                </a:solidFill>
                <a:latin typeface="+mn-lt"/>
                <a:ea typeface="PT Mono"/>
                <a:cs typeface="PT Mono"/>
                <a:sym typeface="PT Mono"/>
              </a:rPr>
              <a:t>Стимулиране на местната икономика</a:t>
            </a:r>
            <a:endParaRPr lang="en-US" sz="2000" dirty="0">
              <a:solidFill>
                <a:schemeClr val="bg1"/>
              </a:solidFill>
              <a:latin typeface="+mn-lt"/>
              <a:ea typeface="PT Mono"/>
              <a:cs typeface="PT Mono"/>
              <a:sym typeface="PT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2" descr="A green circle with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722017" y="-1423569"/>
            <a:ext cx="4066523" cy="404756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4762" y="-6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244544" y="-2304674"/>
            <a:ext cx="2239782" cy="2195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-3"/>
            <a:ext cx="233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15075" y="1766888"/>
            <a:ext cx="2828925" cy="33766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871538" y="426244"/>
            <a:ext cx="7640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4500"/>
            </a:pPr>
            <a:r>
              <a:rPr lang="az-Cyrl-AZ" sz="4800" dirty="0">
                <a:solidFill>
                  <a:schemeClr val="bg1"/>
                </a:solidFill>
              </a:rPr>
              <a:t>Проблем</a:t>
            </a:r>
            <a:endParaRPr sz="45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84252" y="2282455"/>
            <a:ext cx="59754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Прекупвачите изсмукват печалбите на фермерите и оскъпяват храната, докато купувачите все още нямат лесен и директен достъп до качествени местни продукти.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0" name="Google Shape;135;p1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249705" y="205047"/>
            <a:ext cx="2389139" cy="1940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4" descr="A green circle with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590070" y="-5959528"/>
            <a:ext cx="9286035" cy="9286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1438" y="1900238"/>
            <a:ext cx="5262563" cy="3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871537" y="832332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75000"/>
              </a:lnSpc>
              <a:buClr>
                <a:srgbClr val="FFFFFF"/>
              </a:buClr>
              <a:buSzPts val="4500"/>
            </a:pPr>
            <a:r>
              <a:rPr lang="bg-BG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ашето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500" dirty="0" err="1">
                <a:solidFill>
                  <a:schemeClr val="bg1"/>
                </a:solidFill>
                <a:latin typeface="PT Mono"/>
                <a:ea typeface="PT Mono"/>
                <a:cs typeface="PT Mono"/>
                <a:sym typeface="PT Mono"/>
              </a:rPr>
              <a:t>решение</a:t>
            </a:r>
            <a:r>
              <a:rPr lang="en-US" sz="4500" dirty="0">
                <a:solidFill>
                  <a:schemeClr val="bg1"/>
                </a:solidFill>
                <a:latin typeface="PT Mono"/>
                <a:ea typeface="PT Mono"/>
                <a:cs typeface="PT Mono"/>
                <a:sym typeface="PT Mono"/>
              </a:rPr>
              <a:t>: </a:t>
            </a:r>
            <a:r>
              <a:rPr lang="en-US" sz="4500" b="1" dirty="0" err="1">
                <a:solidFill>
                  <a:schemeClr val="bg1"/>
                </a:solidFill>
              </a:rPr>
              <a:t>NaturaLinka</a:t>
            </a:r>
            <a:endParaRPr lang="en-US" sz="4500" b="1" dirty="0">
              <a:solidFill>
                <a:schemeClr val="bg1"/>
              </a:solidFill>
            </a:endParaRPr>
          </a:p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endParaRPr sz="4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4" descr="A black and gold circle with a dot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63713" y="2011875"/>
            <a:ext cx="6160575" cy="616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126512" y="1531088"/>
            <a:ext cx="5018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13793" y="2070993"/>
            <a:ext cx="526256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err="1">
                <a:solidFill>
                  <a:schemeClr val="bg1"/>
                </a:solidFill>
              </a:rPr>
              <a:t>NaturaLinka</a:t>
            </a:r>
            <a:r>
              <a:rPr lang="ru-RU" sz="2000" dirty="0">
                <a:solidFill>
                  <a:schemeClr val="bg1"/>
                </a:solidFill>
              </a:rPr>
              <a:t> е </a:t>
            </a:r>
            <a:r>
              <a:rPr lang="ru-RU" sz="2000" dirty="0" err="1">
                <a:solidFill>
                  <a:schemeClr val="bg1"/>
                </a:solidFill>
              </a:rPr>
              <a:t>marketplace</a:t>
            </a:r>
            <a:r>
              <a:rPr lang="ru-RU" sz="2000" dirty="0">
                <a:solidFill>
                  <a:schemeClr val="bg1"/>
                </a:solidFill>
              </a:rPr>
              <a:t> платформа</a:t>
            </a:r>
            <a:r>
              <a:rPr lang="en-GB" sz="2000" dirty="0">
                <a:solidFill>
                  <a:schemeClr val="bg1"/>
                </a:solidFill>
              </a:rPr>
              <a:t>, </a:t>
            </a:r>
            <a:r>
              <a:rPr lang="bg-BG" sz="2000" dirty="0">
                <a:solidFill>
                  <a:schemeClr val="bg1"/>
                </a:solidFill>
              </a:rPr>
              <a:t>предоставяща д</a:t>
            </a:r>
            <a:r>
              <a:rPr lang="ru-RU" sz="2000" dirty="0" err="1">
                <a:solidFill>
                  <a:schemeClr val="bg1"/>
                </a:solidFill>
              </a:rPr>
              <a:t>иректна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дигитална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връзка</a:t>
            </a:r>
            <a:r>
              <a:rPr lang="ru-RU" sz="2000" dirty="0">
                <a:solidFill>
                  <a:schemeClr val="bg1"/>
                </a:solidFill>
              </a:rPr>
              <a:t> между </a:t>
            </a:r>
            <a:r>
              <a:rPr lang="ru-RU" sz="2000" dirty="0" err="1">
                <a:solidFill>
                  <a:schemeClr val="bg1"/>
                </a:solidFill>
              </a:rPr>
              <a:t>производител</a:t>
            </a:r>
            <a:r>
              <a:rPr lang="ru-RU" sz="2000" dirty="0">
                <a:solidFill>
                  <a:schemeClr val="bg1"/>
                </a:solidFill>
              </a:rPr>
              <a:t> и потребите</a:t>
            </a:r>
            <a:r>
              <a:rPr lang="en-GB" sz="2000" dirty="0">
                <a:solidFill>
                  <a:schemeClr val="bg1"/>
                </a:solidFill>
              </a:rPr>
              <a:t>. </a:t>
            </a:r>
            <a:r>
              <a:rPr lang="bg-BG" sz="2000" dirty="0">
                <a:solidFill>
                  <a:schemeClr val="bg1"/>
                </a:solidFill>
              </a:rPr>
              <a:t>Тя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насърчава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икономическото</a:t>
            </a:r>
            <a:r>
              <a:rPr lang="ru-RU" sz="2000" dirty="0">
                <a:solidFill>
                  <a:schemeClr val="bg1"/>
                </a:solidFill>
              </a:rPr>
              <a:t> развитие на </a:t>
            </a:r>
            <a:r>
              <a:rPr lang="ru-RU" sz="2000" dirty="0" err="1">
                <a:solidFill>
                  <a:schemeClr val="bg1"/>
                </a:solidFill>
              </a:rPr>
              <a:t>селските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райони</a:t>
            </a:r>
            <a:r>
              <a:rPr lang="ru-RU" sz="2000" dirty="0">
                <a:solidFill>
                  <a:schemeClr val="bg1"/>
                </a:solidFill>
              </a:rPr>
              <a:t>.</a:t>
            </a:r>
            <a:endParaRPr lang="en-US" sz="2000" dirty="0"/>
          </a:p>
          <a:p>
            <a:endParaRPr lang="en-US" dirty="0"/>
          </a:p>
        </p:txBody>
      </p:sp>
      <p:pic>
        <p:nvPicPr>
          <p:cNvPr id="12" name="Google Shape;145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98926" y="1531087"/>
            <a:ext cx="2886296" cy="2665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871538" y="495300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работи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проектът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?</a:t>
            </a:r>
            <a:endParaRPr sz="4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5" descr="A green circle with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656057" y="2840477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 descr="A circular logo with a black background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1" y="100853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974111" y="2055647"/>
            <a:ext cx="49583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Качване на обяви с цени, продукти и локации, както и търсене с филтри за вид продукт, цена и локация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6" descr="A black circle with yellow line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35048" y="2158626"/>
            <a:ext cx="8979179" cy="8979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6" descr="A green circle with lines and dot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85594" y="1730001"/>
            <a:ext cx="5550087" cy="5550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2428875" y="1109663"/>
            <a:ext cx="4291013" cy="1462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640556" y="1833562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Демо</a:t>
            </a:r>
            <a:r>
              <a:rPr lang="en-US" sz="525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endParaRPr sz="5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46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2095" y="161725"/>
            <a:ext cx="1553822" cy="313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 descr="A black circle with yellow line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114977" y="2000250"/>
            <a:ext cx="6686550" cy="66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 descr="A screen shot of a clock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1607" y="-329453"/>
            <a:ext cx="4133896" cy="6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технологии</a:t>
            </a:r>
            <a:endParaRPr sz="4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56659" y="1827655"/>
            <a:ext cx="636890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Backend – Python, Flask;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Database – </a:t>
            </a:r>
            <a:r>
              <a:rPr lang="en-US" sz="2400" dirty="0" err="1">
                <a:solidFill>
                  <a:schemeClr val="bg1"/>
                </a:solidFill>
              </a:rPr>
              <a:t>Pymongo</a:t>
            </a:r>
            <a:r>
              <a:rPr lang="en-US" sz="2400" dirty="0">
                <a:solidFill>
                  <a:schemeClr val="bg1"/>
                </a:solidFill>
              </a:rPr>
              <a:t> (Driver for MongoDB);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Frontend – Vue.js, Tailwind.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6272213" y="3495675"/>
            <a:ext cx="3309938" cy="3309938"/>
          </a:xfrm>
          <a:prstGeom prst="ellipse">
            <a:avLst/>
          </a:prstGeom>
          <a:solidFill>
            <a:srgbClr val="FFB803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213" y="4763"/>
            <a:ext cx="2033588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Процес на работа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8" descr="A green circle with a black background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3337627" y="3582619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71538" y="1250454"/>
            <a:ext cx="6635047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1. </a:t>
            </a:r>
            <a:r>
              <a:rPr lang="ru-RU" sz="1800" b="1" dirty="0">
                <a:solidFill>
                  <a:schemeClr val="bg1"/>
                </a:solidFill>
              </a:rPr>
              <a:t>Анализ:</a:t>
            </a:r>
            <a:r>
              <a:rPr lang="ru-RU" sz="1800" dirty="0">
                <a:solidFill>
                  <a:schemeClr val="bg1"/>
                </a:solidFill>
              </a:rPr>
              <a:t> Проучване на нуждите на малките производители.</a:t>
            </a:r>
            <a:endParaRPr lang="en-US" sz="1800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en-US" sz="1800" b="1" dirty="0">
                <a:solidFill>
                  <a:schemeClr val="bg1"/>
                </a:solidFill>
              </a:rPr>
              <a:t>2. </a:t>
            </a:r>
            <a:r>
              <a:rPr lang="ru-RU" sz="1800" b="1" dirty="0">
                <a:solidFill>
                  <a:schemeClr val="bg1"/>
                </a:solidFill>
              </a:rPr>
              <a:t>Архитектура:</a:t>
            </a:r>
            <a:r>
              <a:rPr lang="ru-RU" sz="1800" dirty="0">
                <a:solidFill>
                  <a:schemeClr val="bg1"/>
                </a:solidFill>
              </a:rPr>
              <a:t> Дизайн на базата данни и връзките между потребители.</a:t>
            </a:r>
            <a:endParaRPr lang="en-US" sz="1800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en-US" sz="1800" b="1" dirty="0">
                <a:solidFill>
                  <a:schemeClr val="bg1"/>
                </a:solidFill>
              </a:rPr>
              <a:t>3. </a:t>
            </a:r>
            <a:r>
              <a:rPr lang="ru-RU" sz="1800" b="1" dirty="0">
                <a:solidFill>
                  <a:schemeClr val="bg1"/>
                </a:solidFill>
              </a:rPr>
              <a:t>Разработка:</a:t>
            </a:r>
            <a:r>
              <a:rPr lang="ru-RU" sz="1800" dirty="0">
                <a:solidFill>
                  <a:schemeClr val="bg1"/>
                </a:solidFill>
              </a:rPr>
              <a:t> Изграждане на API, интеграция на MongoDB и LocalMatch AI.</a:t>
            </a:r>
            <a:endParaRPr lang="en-US" sz="1800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en-US" sz="1800" b="1" dirty="0">
                <a:solidFill>
                  <a:schemeClr val="bg1"/>
                </a:solidFill>
              </a:rPr>
              <a:t>4. </a:t>
            </a:r>
            <a:r>
              <a:rPr lang="ru-RU" sz="1800" b="1" dirty="0">
                <a:solidFill>
                  <a:schemeClr val="bg1"/>
                </a:solidFill>
              </a:rPr>
              <a:t>Тестване:</a:t>
            </a:r>
            <a:r>
              <a:rPr lang="ru-RU" sz="1800" dirty="0">
                <a:solidFill>
                  <a:schemeClr val="bg1"/>
                </a:solidFill>
              </a:rPr>
              <a:t> Валидиране на потребителския път и оптимизация на алгоритъма.</a:t>
            </a:r>
            <a:endParaRPr lang="en-US" sz="1800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12" name="Google Shape;138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42009" y="3173909"/>
            <a:ext cx="2997316" cy="1983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007" y="3255168"/>
            <a:ext cx="27241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0"/>
            <a:ext cx="28098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745718" y="707852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bg-BG" sz="4500" dirty="0">
                <a:solidFill>
                  <a:schemeClr val="bg1"/>
                </a:solidFill>
                <a:latin typeface="PT Mono" panose="020B0604020202020204" charset="0"/>
                <a:ea typeface="PT Mono"/>
                <a:cs typeface="PT Mono"/>
                <a:sym typeface="PT Mono"/>
              </a:rPr>
              <a:t>Н</a:t>
            </a:r>
            <a:r>
              <a:rPr lang="en-US" sz="4500" dirty="0" err="1">
                <a:solidFill>
                  <a:schemeClr val="bg1"/>
                </a:solidFill>
                <a:latin typeface="PT Mono" panose="020B0604020202020204" charset="0"/>
                <a:ea typeface="PT Mono"/>
                <a:cs typeface="PT Mono"/>
                <a:sym typeface="PT Mono"/>
              </a:rPr>
              <a:t>ашето</a:t>
            </a:r>
            <a:r>
              <a:rPr lang="en-US" sz="4500" dirty="0">
                <a:solidFill>
                  <a:schemeClr val="bg1"/>
                </a:solidFill>
                <a:latin typeface="PT Mono" panose="020B0604020202020204" charset="0"/>
                <a:ea typeface="PT Mono"/>
                <a:cs typeface="PT Mono"/>
                <a:sym typeface="PT Mono"/>
              </a:rPr>
              <a:t> </a:t>
            </a:r>
            <a:r>
              <a:rPr lang="en-US" sz="4500" dirty="0" err="1">
                <a:solidFill>
                  <a:schemeClr val="bg1"/>
                </a:solidFill>
                <a:latin typeface="PT Mono" panose="020B0604020202020204" charset="0"/>
                <a:ea typeface="PT Mono"/>
                <a:cs typeface="PT Mono"/>
                <a:sym typeface="PT Mono"/>
              </a:rPr>
              <a:t>преживяване</a:t>
            </a:r>
            <a:r>
              <a:rPr lang="bg-BG" sz="4500" dirty="0">
                <a:solidFill>
                  <a:schemeClr val="bg1"/>
                </a:solidFill>
                <a:latin typeface="PT Mono" panose="020B0604020202020204" charset="0"/>
                <a:ea typeface="PT Mono"/>
                <a:cs typeface="PT Mono"/>
                <a:sym typeface="PT Mono"/>
              </a:rPr>
              <a:t> като екип</a:t>
            </a:r>
            <a:endParaRPr sz="4500" dirty="0">
              <a:solidFill>
                <a:schemeClr val="bg1"/>
              </a:solidFill>
              <a:latin typeface="PT Mono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745718" y="1019175"/>
            <a:ext cx="6633277" cy="125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140625"/>
              </a:lnSpc>
              <a:buClr>
                <a:srgbClr val="FFFFFF"/>
              </a:buClr>
              <a:buSzPts val="2400"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9" descr="A black and gold circle with black line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7060" y="2824163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040551" y="2171798"/>
            <a:ext cx="66985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endParaRPr lang="ru-RU"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US" dirty="0"/>
          </a:p>
        </p:txBody>
      </p:sp>
      <p:pic>
        <p:nvPicPr>
          <p:cNvPr id="12" name="Google Shape;137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29166" y="3018184"/>
            <a:ext cx="2090518" cy="2191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5;p2" descr="A green circle with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445259" y="3618776"/>
            <a:ext cx="4066523" cy="4047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9" descr="A black and gold circle with black line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2659" y="-1349293"/>
            <a:ext cx="8864569" cy="8864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640556" y="2415155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75000"/>
              </a:lnSpc>
              <a:buClr>
                <a:srgbClr val="FFFFFF"/>
              </a:buClr>
              <a:buSzPts val="4500"/>
            </a:pPr>
            <a:r>
              <a:rPr lang="az-Cyrl-AZ" sz="4500" dirty="0">
                <a:solidFill>
                  <a:schemeClr val="bg1"/>
                </a:solidFill>
                <a:latin typeface="PT Mono" panose="020B0604020202020204" charset="0"/>
              </a:rPr>
              <a:t>Менторско</a:t>
            </a:r>
            <a:r>
              <a:rPr lang="en-US" sz="4500" dirty="0">
                <a:solidFill>
                  <a:schemeClr val="bg1"/>
                </a:solidFill>
                <a:latin typeface="PT Mono" panose="020B0604020202020204" charset="0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PT Mono" panose="020B0604020202020204" charset="0"/>
                <a:ea typeface="PT Mono"/>
                <a:cs typeface="PT Mono"/>
                <a:sym typeface="PT Mono"/>
              </a:rPr>
              <a:t>преживяване</a:t>
            </a:r>
            <a:endParaRPr sz="4500" dirty="0">
              <a:solidFill>
                <a:schemeClr val="dk1"/>
              </a:solidFill>
              <a:latin typeface="PT Mono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745718" y="1019175"/>
            <a:ext cx="6633277" cy="125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140625"/>
              </a:lnSpc>
              <a:buClr>
                <a:srgbClr val="FFFFFF"/>
              </a:buClr>
              <a:buSzPts val="2400"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35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193963" y="3135936"/>
            <a:ext cx="2308151" cy="18745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208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56;p4" descr="A black and gold circle with a do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2103" y="2233762"/>
            <a:ext cx="6160575" cy="616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588003" y="848625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75000"/>
              </a:lnSpc>
              <a:buClr>
                <a:srgbClr val="FFFFFF"/>
              </a:buClr>
              <a:buSzPts val="4500"/>
            </a:pPr>
            <a:endParaRPr sz="4500" dirty="0">
              <a:solidFill>
                <a:schemeClr val="dk1"/>
              </a:solidFill>
              <a:latin typeface="PT Mono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745718" y="1019175"/>
            <a:ext cx="6633277" cy="125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140625"/>
              </a:lnSpc>
              <a:buClr>
                <a:srgbClr val="FFFFFF"/>
              </a:buClr>
              <a:buSzPts val="2400"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47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2472" y="3053343"/>
            <a:ext cx="2398541" cy="2090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09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6200000">
            <a:off x="1042987" y="-1042987"/>
            <a:ext cx="28098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-148246" y="2182672"/>
            <a:ext cx="95905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500" dirty="0">
                <a:solidFill>
                  <a:schemeClr val="bg1"/>
                </a:solidFill>
              </a:rPr>
              <a:t>Какво научихме от Hack TUES?</a:t>
            </a:r>
            <a:endParaRPr lang="en-US" sz="4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23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0" descr="A circular object with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1475" y="428319"/>
            <a:ext cx="10786950" cy="107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0"/>
          <p:cNvSpPr/>
          <p:nvPr/>
        </p:nvSpPr>
        <p:spPr>
          <a:xfrm>
            <a:off x="871538" y="2047875"/>
            <a:ext cx="7862888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Благодарим</a:t>
            </a:r>
            <a:r>
              <a:rPr lang="en-US" sz="5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5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ви</a:t>
            </a:r>
            <a:r>
              <a:rPr lang="en-US" sz="5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5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за</a:t>
            </a:r>
            <a:r>
              <a:rPr lang="en-US" sz="5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5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вниманието</a:t>
            </a:r>
            <a:r>
              <a:rPr lang="en-US" sz="5000" dirty="0" smtClean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!</a:t>
            </a:r>
          </a:p>
        </p:txBody>
      </p:sp>
      <p:sp>
        <p:nvSpPr>
          <p:cNvPr id="122" name="Google Shape;122;p10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14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33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19841" y="2685420"/>
            <a:ext cx="2299196" cy="2236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010" y="802482"/>
            <a:ext cx="1314450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76475" y="768706"/>
            <a:ext cx="1643063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8744" y="2305050"/>
            <a:ext cx="1576388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0556" y="2897980"/>
            <a:ext cx="1619250" cy="144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66900" y="2195513"/>
            <a:ext cx="1647825" cy="1338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239189" y="1435145"/>
            <a:ext cx="2052637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42807" y="1777734"/>
            <a:ext cx="1589791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297449" y="2648611"/>
            <a:ext cx="2324100" cy="1538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1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007409" y="3838575"/>
            <a:ext cx="809625" cy="96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1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193644" y="566285"/>
            <a:ext cx="377190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1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424488" y="3462338"/>
            <a:ext cx="6381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1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143875" y="1047750"/>
            <a:ext cx="58102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1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656810" y="3417755"/>
            <a:ext cx="852488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1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919788" y="4300538"/>
            <a:ext cx="881063" cy="681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1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260431" y="3284504"/>
            <a:ext cx="1804988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1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453575" y="961214"/>
            <a:ext cx="1023938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1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673659" y="2144646"/>
            <a:ext cx="13335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1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871538" y="276225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Добрита за използване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3631411" y="4517493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244</Words>
  <Application>Microsoft Office PowerPoint</Application>
  <PresentationFormat>On-screen Show (16:9)</PresentationFormat>
  <Paragraphs>50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PT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PptxGenJS</dc:creator>
  <cp:lastModifiedBy>Nikola Ivanov</cp:lastModifiedBy>
  <cp:revision>18</cp:revision>
  <dcterms:created xsi:type="dcterms:W3CDTF">2026-01-15T12:11:17Z</dcterms:created>
  <dcterms:modified xsi:type="dcterms:W3CDTF">2026-03-27T23:39:08Z</dcterms:modified>
</cp:coreProperties>
</file>