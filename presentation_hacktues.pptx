
<file path=[Content_Types].xml><?xml version="1.0" encoding="utf-8"?>
<Types xmlns="http://schemas.openxmlformats.org/package/2006/content-types">
  <Default Extension="fntdata" ContentType="application/x-fontdata"/>
  <Default Extension="glb" ContentType="model/gltf.binary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71" r:id="rId3"/>
    <p:sldId id="258" r:id="rId4"/>
    <p:sldId id="257" r:id="rId5"/>
    <p:sldId id="260" r:id="rId6"/>
    <p:sldId id="262" r:id="rId7"/>
    <p:sldId id="270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PT Mono" panose="02060509020205020204" pitchFamily="49" charset="-52"/>
      <p:regular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ml5qiCSj3k9PFfL3kPWsBeWI5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5192DA-1D1D-4671-8FF2-E2AA36446289}" v="21" dt="2026-03-27T22:13:50.8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86" y="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>
          <a:extLst>
            <a:ext uri="{FF2B5EF4-FFF2-40B4-BE49-F238E27FC236}">
              <a16:creationId xmlns:a16="http://schemas.microsoft.com/office/drawing/2014/main" id="{CA6D381E-1989-1676-4D2E-91301960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>
            <a:extLst>
              <a:ext uri="{FF2B5EF4-FFF2-40B4-BE49-F238E27FC236}">
                <a16:creationId xmlns:a16="http://schemas.microsoft.com/office/drawing/2014/main" id="{13ECDF56-DE7E-3CC8-F4BB-3D2198C42A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>
            <a:extLst>
              <a:ext uri="{FF2B5EF4-FFF2-40B4-BE49-F238E27FC236}">
                <a16:creationId xmlns:a16="http://schemas.microsoft.com/office/drawing/2014/main" id="{AAD008DE-1E60-BAE7-C52C-9EEA52776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>
            <a:extLst>
              <a:ext uri="{FF2B5EF4-FFF2-40B4-BE49-F238E27FC236}">
                <a16:creationId xmlns:a16="http://schemas.microsoft.com/office/drawing/2014/main" id="{D94D7763-C713-7C24-F8FC-7E0A505486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36259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" name="Google Shape;3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Купувачите търсят качество, но нямат лесен начин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да открият стопанства близо до тях.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Липсата на директна връзка принуждава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производителите да разчитат на прекупвачи,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което изсмуква печалбите им и изкуствено оскъпява продуктите.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bg-BG" altLang="bg-BG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F728FA55-FD80-6A7D-C0FC-ACE4CF893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>
            <a:extLst>
              <a:ext uri="{FF2B5EF4-FFF2-40B4-BE49-F238E27FC236}">
                <a16:creationId xmlns:a16="http://schemas.microsoft.com/office/drawing/2014/main" id="{D6F169BC-4696-F404-ADCB-CDCD097D0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5:notes">
            <a:extLst>
              <a:ext uri="{FF2B5EF4-FFF2-40B4-BE49-F238E27FC236}">
                <a16:creationId xmlns:a16="http://schemas.microsoft.com/office/drawing/2014/main" id="{DE682C12-F853-CC2D-2D03-EADE172DE6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:notes">
            <a:extLst>
              <a:ext uri="{FF2B5EF4-FFF2-40B4-BE49-F238E27FC236}">
                <a16:creationId xmlns:a16="http://schemas.microsoft.com/office/drawing/2014/main" id="{D333A24F-4DBB-ED76-F681-6733364C94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5162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8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1.glb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2250" y="65314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321019" y="2571750"/>
            <a:ext cx="5556437" cy="555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1743074" y="2080532"/>
            <a:ext cx="56578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5714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250" dirty="0" err="1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NaturaLinka</a:t>
            </a:r>
            <a:endParaRPr sz="525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2628899" y="2637064"/>
            <a:ext cx="3886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T Mono"/>
              <a:buNone/>
            </a:pP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8в</a:t>
            </a:r>
            <a:r>
              <a:rPr lang="en-GB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 </a:t>
            </a: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елит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543300" y="3714750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0" y="452814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A green circle with lines and circl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76058" y="-3013975"/>
            <a:ext cx="6720928" cy="6442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11">
          <a:extLst>
            <a:ext uri="{FF2B5EF4-FFF2-40B4-BE49-F238E27FC236}">
              <a16:creationId xmlns:a16="http://schemas.microsoft.com/office/drawing/2014/main" id="{09D34139-A6AF-5A39-02C5-8454CE610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>
            <a:extLst>
              <a:ext uri="{FF2B5EF4-FFF2-40B4-BE49-F238E27FC236}">
                <a16:creationId xmlns:a16="http://schemas.microsoft.com/office/drawing/2014/main" id="{8F65CC53-7387-F2F1-EF50-C90BDB8E097B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Google Shape;13;p1">
            <a:extLst>
              <a:ext uri="{FF2B5EF4-FFF2-40B4-BE49-F238E27FC236}">
                <a16:creationId xmlns:a16="http://schemas.microsoft.com/office/drawing/2014/main" id="{C330B150-A0F9-0C7F-F3FC-5C730D2D413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204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 descr="preencoded.png">
            <a:extLst>
              <a:ext uri="{FF2B5EF4-FFF2-40B4-BE49-F238E27FC236}">
                <a16:creationId xmlns:a16="http://schemas.microsoft.com/office/drawing/2014/main" id="{4C5B3580-875C-F3E3-9F24-E22BD01EA05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985329" y="2655880"/>
            <a:ext cx="5556437" cy="555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>
            <a:extLst>
              <a:ext uri="{FF2B5EF4-FFF2-40B4-BE49-F238E27FC236}">
                <a16:creationId xmlns:a16="http://schemas.microsoft.com/office/drawing/2014/main" id="{ACF04EBB-B4E9-3862-08C6-1423FD0D5716}"/>
              </a:ext>
            </a:extLst>
          </p:cNvPr>
          <p:cNvSpPr/>
          <p:nvPr/>
        </p:nvSpPr>
        <p:spPr>
          <a:xfrm>
            <a:off x="1276285" y="428402"/>
            <a:ext cx="56578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5714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bg-BG" sz="525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Екип</a:t>
            </a:r>
            <a:endParaRPr sz="525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>
            <a:extLst>
              <a:ext uri="{FF2B5EF4-FFF2-40B4-BE49-F238E27FC236}">
                <a16:creationId xmlns:a16="http://schemas.microsoft.com/office/drawing/2014/main" id="{77E54DF6-1E67-2E22-8DEB-754076787B82}"/>
              </a:ext>
            </a:extLst>
          </p:cNvPr>
          <p:cNvSpPr/>
          <p:nvPr/>
        </p:nvSpPr>
        <p:spPr>
          <a:xfrm>
            <a:off x="2628899" y="2637064"/>
            <a:ext cx="3886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T Mono"/>
              <a:buNone/>
            </a:pP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>
            <a:extLst>
              <a:ext uri="{FF2B5EF4-FFF2-40B4-BE49-F238E27FC236}">
                <a16:creationId xmlns:a16="http://schemas.microsoft.com/office/drawing/2014/main" id="{89D206DE-8BF1-3BE2-046D-44C93165AB80}"/>
              </a:ext>
            </a:extLst>
          </p:cNvPr>
          <p:cNvSpPr/>
          <p:nvPr/>
        </p:nvSpPr>
        <p:spPr>
          <a:xfrm>
            <a:off x="3543300" y="3714750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19;p1" descr="A green circle with lines and circles&#10;&#10;Description automatically generated">
            <a:extLst>
              <a:ext uri="{FF2B5EF4-FFF2-40B4-BE49-F238E27FC236}">
                <a16:creationId xmlns:a16="http://schemas.microsoft.com/office/drawing/2014/main" id="{AD7BE3E3-FCDA-0354-4247-9DD66601417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556437" y="-3199445"/>
            <a:ext cx="6720928" cy="6442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Картина 2">
            <a:extLst>
              <a:ext uri="{FF2B5EF4-FFF2-40B4-BE49-F238E27FC236}">
                <a16:creationId xmlns:a16="http://schemas.microsoft.com/office/drawing/2014/main" id="{D5A757F4-3C52-59BF-5987-38890145F1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669" y="1632375"/>
            <a:ext cx="1017199" cy="10936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Картина 4">
            <a:extLst>
              <a:ext uri="{FF2B5EF4-FFF2-40B4-BE49-F238E27FC236}">
                <a16:creationId xmlns:a16="http://schemas.microsoft.com/office/drawing/2014/main" id="{0044BB97-1660-6822-2CD7-656E5EC875C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1524" y="1661001"/>
            <a:ext cx="1040351" cy="1131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Картина 6">
            <a:extLst>
              <a:ext uri="{FF2B5EF4-FFF2-40B4-BE49-F238E27FC236}">
                <a16:creationId xmlns:a16="http://schemas.microsoft.com/office/drawing/2014/main" id="{BA40F3A8-2204-DB55-33D4-D81414D20A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694" y="3600343"/>
            <a:ext cx="1044604" cy="10654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Картина 8">
            <a:extLst>
              <a:ext uri="{FF2B5EF4-FFF2-40B4-BE49-F238E27FC236}">
                <a16:creationId xmlns:a16="http://schemas.microsoft.com/office/drawing/2014/main" id="{A5723D50-7FF9-63E8-A9A3-754D2CDADF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8407" y="1700072"/>
            <a:ext cx="1077615" cy="106797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Картина 10">
            <a:extLst>
              <a:ext uri="{FF2B5EF4-FFF2-40B4-BE49-F238E27FC236}">
                <a16:creationId xmlns:a16="http://schemas.microsoft.com/office/drawing/2014/main" id="{563A3E77-95EA-F086-B806-F14028CD5A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450" y="3632383"/>
            <a:ext cx="1117467" cy="11119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0" name="Текстово поле 19">
            <a:extLst>
              <a:ext uri="{FF2B5EF4-FFF2-40B4-BE49-F238E27FC236}">
                <a16:creationId xmlns:a16="http://schemas.microsoft.com/office/drawing/2014/main" id="{95BE69CE-2147-11A2-8D2B-A81E84A9DE6F}"/>
              </a:ext>
            </a:extLst>
          </p:cNvPr>
          <p:cNvSpPr txBox="1"/>
          <p:nvPr/>
        </p:nvSpPr>
        <p:spPr>
          <a:xfrm>
            <a:off x="4243248" y="4631305"/>
            <a:ext cx="155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>
                <a:solidFill>
                  <a:schemeClr val="bg1"/>
                </a:solidFill>
              </a:rPr>
              <a:t>Филип-</a:t>
            </a:r>
            <a:r>
              <a:rPr lang="bg-BG" dirty="0" err="1">
                <a:solidFill>
                  <a:schemeClr val="bg1"/>
                </a:solidFill>
              </a:rPr>
              <a:t>бакенд</a:t>
            </a:r>
            <a:endParaRPr lang="bg-BG" dirty="0">
              <a:solidFill>
                <a:schemeClr val="bg1"/>
              </a:solidFill>
            </a:endParaRPr>
          </a:p>
        </p:txBody>
      </p:sp>
      <p:sp>
        <p:nvSpPr>
          <p:cNvPr id="21" name="Текстово поле 20">
            <a:extLst>
              <a:ext uri="{FF2B5EF4-FFF2-40B4-BE49-F238E27FC236}">
                <a16:creationId xmlns:a16="http://schemas.microsoft.com/office/drawing/2014/main" id="{B612DEA5-EC9E-7360-F913-1CA6A285F97E}"/>
              </a:ext>
            </a:extLst>
          </p:cNvPr>
          <p:cNvSpPr txBox="1"/>
          <p:nvPr/>
        </p:nvSpPr>
        <p:spPr>
          <a:xfrm>
            <a:off x="5178539" y="2816879"/>
            <a:ext cx="155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>
                <a:solidFill>
                  <a:schemeClr val="bg1"/>
                </a:solidFill>
              </a:rPr>
              <a:t>Никола-</a:t>
            </a:r>
            <a:r>
              <a:rPr lang="bg-BG" dirty="0" err="1">
                <a:solidFill>
                  <a:schemeClr val="bg1"/>
                </a:solidFill>
              </a:rPr>
              <a:t>бакенд</a:t>
            </a:r>
            <a:endParaRPr lang="bg-BG" dirty="0">
              <a:solidFill>
                <a:schemeClr val="bg1"/>
              </a:solidFill>
            </a:endParaRPr>
          </a:p>
        </p:txBody>
      </p:sp>
      <p:sp>
        <p:nvSpPr>
          <p:cNvPr id="22" name="Текстово поле 21">
            <a:extLst>
              <a:ext uri="{FF2B5EF4-FFF2-40B4-BE49-F238E27FC236}">
                <a16:creationId xmlns:a16="http://schemas.microsoft.com/office/drawing/2014/main" id="{2A2E3F17-FB64-E18C-864F-72A238DE3C31}"/>
              </a:ext>
            </a:extLst>
          </p:cNvPr>
          <p:cNvSpPr txBox="1"/>
          <p:nvPr/>
        </p:nvSpPr>
        <p:spPr>
          <a:xfrm>
            <a:off x="2960631" y="2816879"/>
            <a:ext cx="17852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>
                <a:solidFill>
                  <a:schemeClr val="bg1"/>
                </a:solidFill>
              </a:rPr>
              <a:t>Кристиан-</a:t>
            </a:r>
            <a:r>
              <a:rPr lang="bg-BG" dirty="0" err="1">
                <a:solidFill>
                  <a:schemeClr val="bg1"/>
                </a:solidFill>
              </a:rPr>
              <a:t>бакенд</a:t>
            </a:r>
            <a:endParaRPr lang="bg-BG" dirty="0">
              <a:solidFill>
                <a:schemeClr val="bg1"/>
              </a:solidFill>
            </a:endParaRPr>
          </a:p>
        </p:txBody>
      </p:sp>
      <p:sp>
        <p:nvSpPr>
          <p:cNvPr id="23" name="Текстово поле 22">
            <a:extLst>
              <a:ext uri="{FF2B5EF4-FFF2-40B4-BE49-F238E27FC236}">
                <a16:creationId xmlns:a16="http://schemas.microsoft.com/office/drawing/2014/main" id="{F87EAFAF-C693-4D15-CEDE-2DFC07BB9E0E}"/>
              </a:ext>
            </a:extLst>
          </p:cNvPr>
          <p:cNvSpPr txBox="1"/>
          <p:nvPr/>
        </p:nvSpPr>
        <p:spPr>
          <a:xfrm>
            <a:off x="2041399" y="4649178"/>
            <a:ext cx="17852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>
                <a:solidFill>
                  <a:schemeClr val="bg1"/>
                </a:solidFill>
              </a:rPr>
              <a:t>Виктор-</a:t>
            </a:r>
            <a:r>
              <a:rPr lang="bg-BG" dirty="0" err="1">
                <a:solidFill>
                  <a:schemeClr val="bg1"/>
                </a:solidFill>
              </a:rPr>
              <a:t>фронтенд</a:t>
            </a:r>
            <a:endParaRPr lang="bg-BG" dirty="0">
              <a:solidFill>
                <a:schemeClr val="bg1"/>
              </a:solidFill>
            </a:endParaRPr>
          </a:p>
        </p:txBody>
      </p:sp>
      <p:sp>
        <p:nvSpPr>
          <p:cNvPr id="24" name="Текстово поле 23">
            <a:extLst>
              <a:ext uri="{FF2B5EF4-FFF2-40B4-BE49-F238E27FC236}">
                <a16:creationId xmlns:a16="http://schemas.microsoft.com/office/drawing/2014/main" id="{C7EAED73-D7BD-7C5A-A0CF-A01CA01F556C}"/>
              </a:ext>
            </a:extLst>
          </p:cNvPr>
          <p:cNvSpPr txBox="1"/>
          <p:nvPr/>
        </p:nvSpPr>
        <p:spPr>
          <a:xfrm>
            <a:off x="570803" y="2791314"/>
            <a:ext cx="19117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>
                <a:solidFill>
                  <a:schemeClr val="bg1"/>
                </a:solidFill>
              </a:rPr>
              <a:t>Костадин-</a:t>
            </a:r>
            <a:r>
              <a:rPr lang="bg-BG" dirty="0" err="1">
                <a:solidFill>
                  <a:schemeClr val="bg1"/>
                </a:solidFill>
              </a:rPr>
              <a:t>фронтенд</a:t>
            </a:r>
            <a:endParaRPr lang="bg-BG" dirty="0">
              <a:solidFill>
                <a:schemeClr val="bg1"/>
              </a:solidFill>
            </a:endParaRPr>
          </a:p>
        </p:txBody>
      </p:sp>
      <p:pic>
        <p:nvPicPr>
          <p:cNvPr id="26" name="Картина 25">
            <a:extLst>
              <a:ext uri="{FF2B5EF4-FFF2-40B4-BE49-F238E27FC236}">
                <a16:creationId xmlns:a16="http://schemas.microsoft.com/office/drawing/2014/main" id="{6D820356-52A2-6A82-2A07-69D970AB03E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8408" y="3629959"/>
            <a:ext cx="1066604" cy="103010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7" name="Текстово поле 26">
            <a:extLst>
              <a:ext uri="{FF2B5EF4-FFF2-40B4-BE49-F238E27FC236}">
                <a16:creationId xmlns:a16="http://schemas.microsoft.com/office/drawing/2014/main" id="{DB193BCB-1E8B-0113-46E2-CB939DA81F30}"/>
              </a:ext>
            </a:extLst>
          </p:cNvPr>
          <p:cNvSpPr txBox="1"/>
          <p:nvPr/>
        </p:nvSpPr>
        <p:spPr>
          <a:xfrm>
            <a:off x="6499249" y="4669812"/>
            <a:ext cx="155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>
                <a:solidFill>
                  <a:schemeClr val="bg1"/>
                </a:solidFill>
              </a:rPr>
              <a:t>Георги-ментор</a:t>
            </a:r>
          </a:p>
        </p:txBody>
      </p:sp>
    </p:spTree>
    <p:extLst>
      <p:ext uri="{BB962C8B-B14F-4D97-AF65-F5344CB8AC3E}">
        <p14:creationId xmlns:p14="http://schemas.microsoft.com/office/powerpoint/2010/main" val="1147053043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3" descr="A yellow circle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86326" y="-6883855"/>
            <a:ext cx="14460770" cy="1446077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5829300" y="2147888"/>
            <a:ext cx="5100638" cy="510063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97586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44452" y="2018076"/>
            <a:ext cx="3548063" cy="3367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544185" y="2937239"/>
            <a:ext cx="2048330" cy="177641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"/>
          <p:cNvSpPr/>
          <p:nvPr/>
        </p:nvSpPr>
        <p:spPr>
          <a:xfrm>
            <a:off x="640554" y="40358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Цел</a:t>
            </a:r>
            <a:r>
              <a:rPr lang="bg-BG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и</a:t>
            </a:r>
            <a:r>
              <a:rPr lang="en-US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на</a:t>
            </a:r>
            <a:r>
              <a:rPr lang="en-US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проекта</a:t>
            </a:r>
            <a:endParaRPr sz="4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2498945" y="1912917"/>
            <a:ext cx="3950937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bg-BG" sz="2000" dirty="0">
                <a:solidFill>
                  <a:schemeClr val="bg1"/>
                </a:solidFill>
                <a:latin typeface="+mn-lt"/>
                <a:sym typeface="PT Mono"/>
              </a:rPr>
              <a:t>1.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По-голяма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свързаност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между производители 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купувачи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.</a:t>
            </a:r>
          </a:p>
          <a:p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  <a:p>
            <a:r>
              <a:rPr lang="bg-BG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2. Стимулиране на местната икономика</a:t>
            </a:r>
            <a:r>
              <a:rPr lang="en-GB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.</a:t>
            </a:r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2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109741" y="-1475815"/>
            <a:ext cx="4066523" cy="40475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" y="-16772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5280" y="3878212"/>
            <a:ext cx="2239782" cy="2195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39526" y="0"/>
            <a:ext cx="233838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10313" y="1683027"/>
            <a:ext cx="2828925" cy="33766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871538" y="426244"/>
            <a:ext cx="7640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4500"/>
            </a:pPr>
            <a:r>
              <a:rPr lang="az-Cyrl-AZ" sz="4000" dirty="0">
                <a:solidFill>
                  <a:schemeClr val="bg1"/>
                </a:solidFill>
              </a:rPr>
              <a:t>Проблеми за решаване</a:t>
            </a:r>
            <a:endParaRPr sz="4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9EBB247-B33A-3E16-4691-9C2864EAD4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8720" y="1970434"/>
            <a:ext cx="7082388" cy="21852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1. Липса на свързаност и директна връзка между клиенти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и производители.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bg-BG" altLang="bg-BG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2. Разчитане на прекупвачи, вместо на производители.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bg-BG" altLang="bg-BG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bg-BG" altLang="bg-BG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bg-BG" altLang="bg-BG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/>
          <p:cNvSpPr/>
          <p:nvPr/>
        </p:nvSpPr>
        <p:spPr>
          <a:xfrm>
            <a:off x="640556" y="502116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Как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работи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проектът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" descr="A green circle with a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656057" y="2840477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A circular logo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69531" y="107385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1924493" y="1861482"/>
            <a:ext cx="52950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 err="1">
                <a:solidFill>
                  <a:schemeClr val="bg1"/>
                </a:solidFill>
              </a:rPr>
              <a:t>Качване</a:t>
            </a:r>
            <a:r>
              <a:rPr lang="ru-RU" sz="2000" dirty="0">
                <a:solidFill>
                  <a:schemeClr val="bg1"/>
                </a:solidFill>
              </a:rPr>
              <a:t> на </a:t>
            </a:r>
            <a:r>
              <a:rPr lang="ru-RU" sz="2000" dirty="0" err="1">
                <a:solidFill>
                  <a:schemeClr val="bg1"/>
                </a:solidFill>
              </a:rPr>
              <a:t>обяви</a:t>
            </a:r>
            <a:r>
              <a:rPr lang="ru-RU" sz="2000" dirty="0">
                <a:solidFill>
                  <a:schemeClr val="bg1"/>
                </a:solidFill>
              </a:rPr>
              <a:t> с цени, </a:t>
            </a:r>
            <a:r>
              <a:rPr lang="ru-RU" sz="2000" dirty="0" err="1">
                <a:solidFill>
                  <a:schemeClr val="bg1"/>
                </a:solidFill>
              </a:rPr>
              <a:t>продукти</a:t>
            </a:r>
            <a:r>
              <a:rPr lang="ru-RU" sz="2000" dirty="0">
                <a:solidFill>
                  <a:schemeClr val="bg1"/>
                </a:solidFill>
              </a:rPr>
              <a:t> и локации, </a:t>
            </a:r>
            <a:r>
              <a:rPr lang="ru-RU" sz="2000" dirty="0" err="1">
                <a:solidFill>
                  <a:schemeClr val="bg1"/>
                </a:solidFill>
              </a:rPr>
              <a:t>както</a:t>
            </a:r>
            <a:r>
              <a:rPr lang="ru-RU" sz="2000" dirty="0">
                <a:solidFill>
                  <a:schemeClr val="bg1"/>
                </a:solidFill>
              </a:rPr>
              <a:t> и </a:t>
            </a:r>
            <a:r>
              <a:rPr lang="ru-RU" sz="2000" dirty="0" err="1">
                <a:solidFill>
                  <a:schemeClr val="bg1"/>
                </a:solidFill>
              </a:rPr>
              <a:t>търсене</a:t>
            </a:r>
            <a:r>
              <a:rPr lang="ru-RU" sz="2000" dirty="0">
                <a:solidFill>
                  <a:schemeClr val="bg1"/>
                </a:solidFill>
              </a:rPr>
              <a:t> с </a:t>
            </a:r>
            <a:r>
              <a:rPr lang="ru-RU" sz="2000" dirty="0" err="1">
                <a:solidFill>
                  <a:schemeClr val="bg1"/>
                </a:solidFill>
              </a:rPr>
              <a:t>филтри</a:t>
            </a:r>
            <a:r>
              <a:rPr lang="ru-RU" sz="2000" dirty="0">
                <a:solidFill>
                  <a:schemeClr val="bg1"/>
                </a:solidFill>
              </a:rPr>
              <a:t> за вид продукт, цена и локация.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7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428486" y="2496639"/>
            <a:ext cx="6686550" cy="668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" descr="A screen shot of a clock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1607" y="-329453"/>
            <a:ext cx="4133896" cy="650132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7"/>
          <p:cNvSpPr/>
          <p:nvPr/>
        </p:nvSpPr>
        <p:spPr>
          <a:xfrm>
            <a:off x="594836" y="54006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Използвани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технологии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936932" y="2240488"/>
            <a:ext cx="636890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Backend - Python, Flask;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Database – MongoDB</a:t>
            </a:r>
            <a:r>
              <a:rPr lang="en-GB" sz="2000" dirty="0">
                <a:solidFill>
                  <a:schemeClr val="bg1"/>
                </a:solidFill>
              </a:rPr>
              <a:t>;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Frontend - </a:t>
            </a:r>
            <a:r>
              <a:rPr lang="en-US" sz="2000" dirty="0">
                <a:solidFill>
                  <a:schemeClr val="bg1"/>
                </a:solidFill>
              </a:rPr>
              <a:t>Vue.js </a:t>
            </a:r>
            <a:r>
              <a:rPr lang="bg-BG" sz="2000" dirty="0">
                <a:solidFill>
                  <a:schemeClr val="bg1"/>
                </a:solidFill>
              </a:rPr>
              <a:t>и </a:t>
            </a:r>
            <a:r>
              <a:rPr lang="en-US" sz="2000" dirty="0">
                <a:solidFill>
                  <a:schemeClr val="bg1"/>
                </a:solidFill>
              </a:rPr>
              <a:t>Tailwind CSS;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1">
          <a:extLst>
            <a:ext uri="{FF2B5EF4-FFF2-40B4-BE49-F238E27FC236}">
              <a16:creationId xmlns:a16="http://schemas.microsoft.com/office/drawing/2014/main" id="{40025084-56B4-13E2-8E56-729D60C1E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>
            <a:extLst>
              <a:ext uri="{FF2B5EF4-FFF2-40B4-BE49-F238E27FC236}">
                <a16:creationId xmlns:a16="http://schemas.microsoft.com/office/drawing/2014/main" id="{64B4C4BD-6C6B-690A-5BE0-08B84195F547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5" descr="preencoded.png">
            <a:extLst>
              <a:ext uri="{FF2B5EF4-FFF2-40B4-BE49-F238E27FC236}">
                <a16:creationId xmlns:a16="http://schemas.microsoft.com/office/drawing/2014/main" id="{852F0F24-6F00-B3E8-D815-4E5CD81C86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94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>
            <a:extLst>
              <a:ext uri="{FF2B5EF4-FFF2-40B4-BE49-F238E27FC236}">
                <a16:creationId xmlns:a16="http://schemas.microsoft.com/office/drawing/2014/main" id="{ADBAB8EC-EA12-5521-79C0-55538F768CE5}"/>
              </a:ext>
            </a:extLst>
          </p:cNvPr>
          <p:cNvSpPr/>
          <p:nvPr/>
        </p:nvSpPr>
        <p:spPr>
          <a:xfrm>
            <a:off x="640556" y="2250510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bg-BG" sz="60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Демо</a:t>
            </a:r>
            <a:endParaRPr sz="6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" descr="A green circle with a black background&#10;&#10;Description automatically generated">
            <a:extLst>
              <a:ext uri="{FF2B5EF4-FFF2-40B4-BE49-F238E27FC236}">
                <a16:creationId xmlns:a16="http://schemas.microsoft.com/office/drawing/2014/main" id="{F53AFBEC-D6EC-8B2F-7E66-A51A022366E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656057" y="2840477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A circular logo with a black background&#10;&#10;Description automatically generated">
            <a:extLst>
              <a:ext uri="{FF2B5EF4-FFF2-40B4-BE49-F238E27FC236}">
                <a16:creationId xmlns:a16="http://schemas.microsoft.com/office/drawing/2014/main" id="{8D973624-A3B2-4FCC-E21A-3964F65DBCA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69531" y="107385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475642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6272213" y="3495675"/>
            <a:ext cx="3309938" cy="3309938"/>
          </a:xfrm>
          <a:prstGeom prst="ellipse">
            <a:avLst/>
          </a:prstGeom>
          <a:solidFill>
            <a:srgbClr val="FFB803">
              <a:alpha val="69803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213" y="4763"/>
            <a:ext cx="2033588" cy="50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8"/>
          <p:cNvSpPr/>
          <p:nvPr/>
        </p:nvSpPr>
        <p:spPr>
          <a:xfrm>
            <a:off x="640556" y="536831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Процес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на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работа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8" descr="A green circ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37627" y="3582619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2954689" y="2166287"/>
            <a:ext cx="66350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1. </a:t>
            </a:r>
            <a:r>
              <a:rPr lang="ru-RU" sz="2400" dirty="0" err="1">
                <a:solidFill>
                  <a:schemeClr val="bg1"/>
                </a:solidFill>
              </a:rPr>
              <a:t>Генеране</a:t>
            </a:r>
            <a:r>
              <a:rPr lang="ru-RU" sz="2400" dirty="0">
                <a:solidFill>
                  <a:schemeClr val="bg1"/>
                </a:solidFill>
              </a:rPr>
              <a:t> на идеи</a:t>
            </a:r>
          </a:p>
          <a:p>
            <a:r>
              <a:rPr lang="ru-RU" sz="2400" dirty="0">
                <a:solidFill>
                  <a:schemeClr val="bg1"/>
                </a:solidFill>
              </a:rPr>
              <a:t>2. </a:t>
            </a:r>
            <a:r>
              <a:rPr lang="ru-RU" sz="2400" dirty="0" err="1">
                <a:solidFill>
                  <a:schemeClr val="bg1"/>
                </a:solidFill>
              </a:rPr>
              <a:t>Проучване</a:t>
            </a:r>
            <a:endParaRPr lang="ru-RU" sz="2400" dirty="0">
              <a:solidFill>
                <a:schemeClr val="bg1"/>
              </a:solidFill>
            </a:endParaRPr>
          </a:p>
          <a:p>
            <a:r>
              <a:rPr lang="ru-RU" sz="2400" dirty="0">
                <a:solidFill>
                  <a:schemeClr val="bg1"/>
                </a:solidFill>
              </a:rPr>
              <a:t>3. Разработка</a:t>
            </a:r>
          </a:p>
          <a:p>
            <a:r>
              <a:rPr lang="ru-RU" sz="2400" dirty="0">
                <a:solidFill>
                  <a:schemeClr val="bg1"/>
                </a:solidFill>
              </a:rPr>
              <a:t>4.  </a:t>
            </a:r>
            <a:r>
              <a:rPr lang="ru-RU" sz="2400" dirty="0" err="1">
                <a:solidFill>
                  <a:schemeClr val="bg1"/>
                </a:solidFill>
              </a:rPr>
              <a:t>Тестване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2" name="Google Shape;138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87051" y="3389427"/>
            <a:ext cx="2997316" cy="1983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007" y="3255168"/>
            <a:ext cx="27241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0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745718" y="223361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bg-BG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ашето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преживяване</a:t>
            </a:r>
            <a:r>
              <a:rPr lang="bg-BG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като екип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7060" y="2824163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37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29166" y="3018184"/>
            <a:ext cx="2090518" cy="2191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0" descr="A circular object with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21475" y="428319"/>
            <a:ext cx="10786950" cy="10786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"/>
          <p:cNvSpPr/>
          <p:nvPr/>
        </p:nvSpPr>
        <p:spPr>
          <a:xfrm>
            <a:off x="640556" y="609447"/>
            <a:ext cx="7862888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2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Благодарим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ви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за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вниманието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!</a:t>
            </a:r>
            <a:endParaRPr sz="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0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1" y="4515528"/>
            <a:ext cx="1881178" cy="19965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модел 1" descr="Smiling Face With Sunglasses Emoji">
                <a:extLst>
                  <a:ext uri="{FF2B5EF4-FFF2-40B4-BE49-F238E27FC236}">
                    <a16:creationId xmlns:a16="http://schemas.microsoft.com/office/drawing/2014/main" id="{F3E0C75B-00B6-B083-A942-BDB2528D4D0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54594677"/>
                  </p:ext>
                </p:extLst>
              </p:nvPr>
            </p:nvGraphicFramePr>
            <p:xfrm>
              <a:off x="3522592" y="1994805"/>
              <a:ext cx="2098814" cy="2011818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2098814" cy="2011818"/>
                    </a:xfrm>
                    <a:prstGeom prst="rect">
                      <a:avLst/>
                    </a:prstGeom>
                  </am3d:spPr>
                  <am3d:camera>
                    <am3d:pos x="0" y="0" z="7833415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8884" d="1000000"/>
                    <am3d:preTrans dx="1832" dy="-16799170" dz="-1200816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68651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модел 1" descr="Smiling Face With Sunglasses Emoji">
                <a:extLst>
                  <a:ext uri="{FF2B5EF4-FFF2-40B4-BE49-F238E27FC236}">
                    <a16:creationId xmlns:a16="http://schemas.microsoft.com/office/drawing/2014/main" id="{F3E0C75B-00B6-B083-A942-BDB2528D4D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22592" y="1994805"/>
                <a:ext cx="2098814" cy="2011818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9" presetClass="emph" presetSubtype="5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0.0012"/>
                                          </p:val>
                                        </p:tav>
                                        <p:tav tm="2250">
                                          <p:val>
                                            <p:fltVal val="0.0098"/>
                                          </p:val>
                                        </p:tav>
                                        <p:tav tm="3370">
                                          <p:val>
                                            <p:fltVal val="0.033"/>
                                          </p:val>
                                        </p:tav>
                                        <p:tav tm="4490">
                                          <p:val>
                                            <p:fltVal val="0.0789"/>
                                          </p:val>
                                        </p:tav>
                                        <p:tav tm="5620">
                                          <p:val>
                                            <p:fltVal val="0.1548"/>
                                          </p:val>
                                        </p:tav>
                                        <p:tav tm="6740">
                                          <p:val>
                                            <p:fltVal val="0.267"/>
                                          </p:val>
                                        </p:tav>
                                        <p:tav tm="7870">
                                          <p:val>
                                            <p:fltVal val="0.4235"/>
                                          </p:val>
                                        </p:tav>
                                        <p:tav tm="8990">
                                          <p:val>
                                            <p:fltVal val="0.6337"/>
                                          </p:val>
                                        </p:tav>
                                        <p:tav tm="10110">
                                          <p:val>
                                            <p:fltVal val="0.9013"/>
                                          </p:val>
                                        </p:tav>
                                        <p:tav tm="11240">
                                          <p:val>
                                            <p:fltVal val="1.2353"/>
                                          </p:val>
                                        </p:tav>
                                        <p:tav tm="12360">
                                          <p:val>
                                            <p:fltVal val="1.647"/>
                                          </p:val>
                                        </p:tav>
                                        <p:tav tm="13480">
                                          <p:val>
                                            <p:fltVal val="2.0869"/>
                                          </p:val>
                                        </p:tav>
                                        <p:tav tm="14610">
                                          <p:val>
                                            <p:fltVal val="2.4538"/>
                                          </p:val>
                                        </p:tav>
                                        <p:tav tm="15730">
                                          <p:val>
                                            <p:fltVal val="2.7534"/>
                                          </p:val>
                                        </p:tav>
                                        <p:tav tm="16850">
                                          <p:val>
                                            <p:fltVal val="2.9876"/>
                                          </p:val>
                                        </p:tav>
                                        <p:tav tm="17980">
                                          <p:val>
                                            <p:fltVal val="3.1669"/>
                                          </p:val>
                                        </p:tav>
                                        <p:tav tm="19100">
                                          <p:val>
                                            <p:fltVal val="3.2996"/>
                                          </p:val>
                                        </p:tav>
                                        <p:tav tm="20220">
                                          <p:val>
                                            <p:fltVal val="3.3906"/>
                                          </p:val>
                                        </p:tav>
                                        <p:tav tm="21350">
                                          <p:val>
                                            <p:fltVal val="3.4488"/>
                                          </p:val>
                                        </p:tav>
                                        <p:tav tm="22470">
                                          <p:val>
                                            <p:fltVal val="3.4815"/>
                                          </p:val>
                                        </p:tav>
                                        <p:tav tm="23600">
                                          <p:val>
                                            <p:fltVal val="3.4961"/>
                                          </p:val>
                                        </p:tav>
                                        <p:tav tm="24720">
                                          <p:val>
                                            <p:fltVal val="3.4998"/>
                                          </p:val>
                                        </p:tav>
                                        <p:tav tm="25840">
                                          <p:val>
                                            <p:fltVal val="3.0301"/>
                                          </p:val>
                                        </p:tav>
                                        <p:tav tm="26970">
                                          <p:val>
                                            <p:fltVal val="0.9661"/>
                                          </p:val>
                                        </p:tav>
                                        <p:tav tm="28090">
                                          <p:val>
                                            <p:fltVal val="-2.1525"/>
                                          </p:val>
                                        </p:tav>
                                        <p:tav tm="29210">
                                          <p:val>
                                            <p:fltVal val="-6.1215"/>
                                          </p:val>
                                        </p:tav>
                                        <p:tav tm="30340">
                                          <p:val>
                                            <p:fltVal val="-10.8322"/>
                                          </p:val>
                                        </p:tav>
                                        <p:tav tm="31460">
                                          <p:val>
                                            <p:fltVal val="-16.2132"/>
                                          </p:val>
                                        </p:tav>
                                        <p:tav tm="32580">
                                          <p:val>
                                            <p:fltVal val="-22.2128"/>
                                          </p:val>
                                        </p:tav>
                                        <p:tav tm="33710">
                                          <p:val>
                                            <p:fltVal val="-28.7297"/>
                                          </p:val>
                                        </p:tav>
                                        <p:tav tm="34830">
                                          <p:val>
                                            <p:fltVal val="-35.8493"/>
                                          </p:val>
                                        </p:tav>
                                        <p:tav tm="35960">
                                          <p:val>
                                            <p:fltVal val="-43.4888"/>
                                          </p:val>
                                        </p:tav>
                                        <p:tav tm="37080">
                                          <p:val>
                                            <p:fltVal val="-51.6257"/>
                                          </p:val>
                                        </p:tav>
                                        <p:tav tm="38200">
                                          <p:val>
                                            <p:fltVal val="-60.2402"/>
                                          </p:val>
                                        </p:tav>
                                        <p:tav tm="39330">
                                          <p:val>
                                            <p:fltVal val="-69.3155"/>
                                          </p:val>
                                        </p:tav>
                                        <p:tav tm="40450">
                                          <p:val>
                                            <p:fltVal val="-78.8364"/>
                                          </p:val>
                                        </p:tav>
                                        <p:tav tm="41570">
                                          <p:val>
                                            <p:fltVal val="-88.6987"/>
                                          </p:val>
                                        </p:tav>
                                        <p:tav tm="42700">
                                          <p:val>
                                            <p:fltVal val="-99.0679"/>
                                          </p:val>
                                        </p:tav>
                                        <p:tav tm="43820">
                                          <p:val>
                                            <p:fltVal val="-109.8461"/>
                                          </p:val>
                                        </p:tav>
                                        <p:tav tm="44940">
                                          <p:val>
                                            <p:fltVal val="-121.0232"/>
                                          </p:val>
                                        </p:tav>
                                        <p:tav tm="46070">
                                          <p:val>
                                            <p:fltVal val="-132.5899"/>
                                          </p:val>
                                        </p:tav>
                                        <p:tav tm="47190">
                                          <p:val>
                                            <p:fltVal val="-144.5376"/>
                                          </p:val>
                                        </p:tav>
                                        <p:tav tm="48310">
                                          <p:val>
                                            <p:fltVal val="-156.85851"/>
                                          </p:val>
                                        </p:tav>
                                        <p:tav tm="49440">
                                          <p:val>
                                            <p:fltVal val="-169.43021"/>
                                          </p:val>
                                        </p:tav>
                                        <p:tav tm="50560">
                                          <p:val>
                                            <p:fltVal val="-182.34309"/>
                                          </p:val>
                                        </p:tav>
                                        <p:tav tm="51690">
                                          <p:val>
                                            <p:fltVal val="-195.1411"/>
                                          </p:val>
                                        </p:tav>
                                        <p:tav tm="52810">
                                          <p:val>
                                            <p:fltVal val="-207.6945"/>
                                          </p:val>
                                        </p:tav>
                                        <p:tav tm="53930">
                                          <p:val>
                                            <p:fltVal val="-219.77251"/>
                                          </p:val>
                                        </p:tav>
                                        <p:tav tm="55060">
                                          <p:val>
                                            <p:fltVal val="-231.4814"/>
                                          </p:val>
                                        </p:tav>
                                        <p:tav tm="56180">
                                          <p:val>
                                            <p:fltVal val="-242.91341"/>
                                          </p:val>
                                        </p:tav>
                                        <p:tav tm="57300">
                                          <p:val>
                                            <p:fltVal val="-253.8558"/>
                                          </p:val>
                                        </p:tav>
                                        <p:tav tm="58430">
                                          <p:val>
                                            <p:fltVal val="-264.40329"/>
                                          </p:val>
                                        </p:tav>
                                        <p:tav tm="59550">
                                          <p:val>
                                            <p:fltVal val="-274.63501"/>
                                          </p:val>
                                        </p:tav>
                                        <p:tav tm="60670">
                                          <p:val>
                                            <p:fltVal val="-284.35721"/>
                                          </p:val>
                                        </p:tav>
                                        <p:tav tm="61800">
                                          <p:val>
                                            <p:fltVal val="-293.6507"/>
                                          </p:val>
                                        </p:tav>
                                        <p:tav tm="62920">
                                          <p:val>
                                            <p:fltVal val="-302.57959"/>
                                          </p:val>
                                        </p:tav>
                                        <p:tav tm="64040">
                                          <p:val>
                                            <p:fltVal val="-310.96921"/>
                                          </p:val>
                                        </p:tav>
                                        <p:tav tm="65170">
                                          <p:val>
                                            <p:fltVal val="-318.88379"/>
                                          </p:val>
                                        </p:tav>
                                        <p:tav tm="66290">
                                          <p:val>
                                            <p:fltVal val="-326.36801"/>
                                          </p:val>
                                        </p:tav>
                                        <p:tav tm="67420">
                                          <p:val>
                                            <p:fltVal val="-333.26511"/>
                                          </p:val>
                                        </p:tav>
                                        <p:tav tm="68540">
                                          <p:val>
                                            <p:fltVal val="-339.6712"/>
                                          </p:val>
                                        </p:tav>
                                        <p:tav tm="69660">
                                          <p:val>
                                            <p:fltVal val="-345.43851"/>
                                          </p:val>
                                        </p:tav>
                                        <p:tav tm="70790">
                                          <p:val>
                                            <p:fltVal val="-350.58469"/>
                                          </p:val>
                                        </p:tav>
                                        <p:tav tm="71910">
                                          <p:val>
                                            <p:fltVal val="-355.09189"/>
                                          </p:val>
                                        </p:tav>
                                        <p:tav tm="73030">
                                          <p:val>
                                            <p:fltVal val="-358.80179"/>
                                          </p:val>
                                        </p:tav>
                                        <p:tav tm="74160">
                                          <p:val>
                                            <p:fltVal val="-361.63531"/>
                                          </p:val>
                                        </p:tav>
                                        <p:tav tm="75280">
                                          <p:val>
                                            <p:fltVal val="-363.345"/>
                                          </p:val>
                                        </p:tav>
                                        <p:tav tm="76400">
                                          <p:val>
                                            <p:fltVal val="-363.4978"/>
                                          </p:val>
                                        </p:tav>
                                        <p:tav tm="77530">
                                          <p:val>
                                            <p:fltVal val="-363.47061"/>
                                          </p:val>
                                        </p:tav>
                                        <p:tav tm="78650">
                                          <p:val>
                                            <p:fltVal val="-363.38339"/>
                                          </p:val>
                                        </p:tav>
                                        <p:tav tm="79780">
                                          <p:val>
                                            <p:fltVal val="-363.20349"/>
                                          </p:val>
                                        </p:tav>
                                        <p:tav tm="80900">
                                          <p:val>
                                            <p:fltVal val="-362.8963"/>
                                          </p:val>
                                        </p:tav>
                                        <p:tav tm="82020">
                                          <p:val>
                                            <p:fltVal val="-362.4227"/>
                                          </p:val>
                                        </p:tav>
                                        <p:tav tm="83150">
                                          <p:val>
                                            <p:fltVal val="-361.7569"/>
                                          </p:val>
                                        </p:tav>
                                        <p:tav tm="84270">
                                          <p:val>
                                            <p:fltVal val="-361.0874"/>
                                          </p:val>
                                        </p:tav>
                                        <p:tav tm="85390">
                                          <p:val>
                                            <p:fltVal val="-360.6105"/>
                                          </p:val>
                                        </p:tav>
                                        <p:tav tm="86520">
                                          <p:val>
                                            <p:fltVal val="-360.30069"/>
                                          </p:val>
                                        </p:tav>
                                        <p:tav tm="87640">
                                          <p:val>
                                            <p:fltVal val="-360.1188"/>
                                          </p:val>
                                        </p:tav>
                                        <p:tav tm="88760">
                                          <p:val>
                                            <p:fltVal val="-360.03021"/>
                                          </p:val>
                                        </p:tav>
                                        <p:tav tm="89890">
                                          <p:val>
                                            <p:fltVal val="-360.00229"/>
                                          </p:val>
                                        </p:tav>
                                        <p:tav tm="91010">
                                          <p:val>
                                            <p:fltVal val="-360"/>
                                          </p:val>
                                        </p:tav>
                                        <p:tav tm="92130">
                                          <p:val>
                                            <p:fltVal val="-360"/>
                                          </p:val>
                                        </p:tav>
                                        <p:tav tm="93260">
                                          <p:val>
                                            <p:fltVal val="-360"/>
                                          </p:val>
                                        </p:tav>
                                        <p:tav tm="94380">
                                          <p:val>
                                            <p:fltVal val="-360"/>
                                          </p:val>
                                        </p:tav>
                                        <p:tav tm="95510">
                                          <p:val>
                                            <p:fltVal val="-360"/>
                                          </p:val>
                                        </p:tav>
                                        <p:tav tm="96630">
                                          <p:val>
                                            <p:fltVal val="-360"/>
                                          </p:val>
                                        </p:tav>
                                        <p:tav tm="97750">
                                          <p:val>
                                            <p:fltVal val="-360"/>
                                          </p:val>
                                        </p:tav>
                                        <p:tav tm="9888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-36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sum"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3d.view.translation.y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0"/>
                                          </p:val>
                                        </p:tav>
                                        <p:tav tm="2250">
                                          <p:val>
                                            <p:fltVal val="-10E-5"/>
                                          </p:val>
                                        </p:tav>
                                        <p:tav tm="3370">
                                          <p:val>
                                            <p:fltVal val="-0.0004"/>
                                          </p:val>
                                        </p:tav>
                                        <p:tav tm="4490">
                                          <p:val>
                                            <p:fltVal val="-0.0011"/>
                                          </p:val>
                                        </p:tav>
                                        <p:tav tm="5620">
                                          <p:val>
                                            <p:fltVal val="-0.0021"/>
                                          </p:val>
                                        </p:tav>
                                        <p:tav tm="6740">
                                          <p:val>
                                            <p:fltVal val="-0.0037"/>
                                          </p:val>
                                        </p:tav>
                                        <p:tav tm="7870">
                                          <p:val>
                                            <p:fltVal val="-0.0059"/>
                                          </p:val>
                                        </p:tav>
                                        <p:tav tm="8990">
                                          <p:val>
                                            <p:fltVal val="-0.0088"/>
                                          </p:val>
                                        </p:tav>
                                        <p:tav tm="10110">
                                          <p:val>
                                            <p:fltVal val="-0.0125"/>
                                          </p:val>
                                        </p:tav>
                                        <p:tav tm="11240">
                                          <p:val>
                                            <p:fltVal val="-0.0162"/>
                                          </p:val>
                                        </p:tav>
                                        <p:tav tm="12360">
                                          <p:val>
                                            <p:fltVal val="-0.0191"/>
                                          </p:val>
                                        </p:tav>
                                        <p:tav tm="13480">
                                          <p:val>
                                            <p:fltVal val="-0.0213"/>
                                          </p:val>
                                        </p:tav>
                                        <p:tav tm="14610">
                                          <p:val>
                                            <p:fltVal val="-0.0228"/>
                                          </p:val>
                                        </p:tav>
                                        <p:tav tm="15730">
                                          <p:val>
                                            <p:fltVal val="-0.0239"/>
                                          </p:val>
                                        </p:tav>
                                        <p:tav tm="16850">
                                          <p:val>
                                            <p:fltVal val="-0.0245"/>
                                          </p:val>
                                        </p:tav>
                                        <p:tav tm="17980">
                                          <p:val>
                                            <p:fltVal val="-0.0248"/>
                                          </p:val>
                                        </p:tav>
                                        <p:tav tm="19100">
                                          <p:val>
                                            <p:fltVal val="-0.0249"/>
                                          </p:val>
                                        </p:tav>
                                        <p:tav tm="20220">
                                          <p:val>
                                            <p:fltVal val="-0.0249"/>
                                          </p:val>
                                        </p:tav>
                                        <p:tav tm="21350">
                                          <p:val>
                                            <p:fltVal val="-0.0248"/>
                                          </p:val>
                                        </p:tav>
                                        <p:tav tm="22470">
                                          <p:val>
                                            <p:fltVal val="-0.0241"/>
                                          </p:val>
                                        </p:tav>
                                        <p:tav tm="23600">
                                          <p:val>
                                            <p:fltVal val="-0.022"/>
                                          </p:val>
                                        </p:tav>
                                        <p:tav tm="24720">
                                          <p:val>
                                            <p:fltVal val="-0.0179"/>
                                          </p:val>
                                        </p:tav>
                                        <p:tav tm="25840">
                                          <p:val>
                                            <p:fltVal val="-0.0113"/>
                                          </p:val>
                                        </p:tav>
                                        <p:tav tm="26970">
                                          <p:val>
                                            <p:fltVal val="-0.0013"/>
                                          </p:val>
                                        </p:tav>
                                        <p:tav tm="28090">
                                          <p:val>
                                            <p:fltVal val="0.0124"/>
                                          </p:val>
                                        </p:tav>
                                        <p:tav tm="29210">
                                          <p:val>
                                            <p:fltVal val="0.0309"/>
                                          </p:val>
                                        </p:tav>
                                        <p:tav tm="30340">
                                          <p:val>
                                            <p:fltVal val="0.0546"/>
                                          </p:val>
                                        </p:tav>
                                        <p:tav tm="31460">
                                          <p:val>
                                            <p:fltVal val="0.0842"/>
                                          </p:val>
                                        </p:tav>
                                        <p:tav tm="32580">
                                          <p:val>
                                            <p:fltVal val="0.1204"/>
                                          </p:val>
                                        </p:tav>
                                        <p:tav tm="33710">
                                          <p:val>
                                            <p:fltVal val="0.1634"/>
                                          </p:val>
                                        </p:tav>
                                        <p:tav tm="34830">
                                          <p:val>
                                            <p:fltVal val="0.2145"/>
                                          </p:val>
                                        </p:tav>
                                        <p:tav tm="35960">
                                          <p:val>
                                            <p:fltVal val="0.2711"/>
                                          </p:val>
                                        </p:tav>
                                        <p:tav tm="37080">
                                          <p:val>
                                            <p:fltVal val="0.3207"/>
                                          </p:val>
                                        </p:tav>
                                        <p:tav tm="38200">
                                          <p:val>
                                            <p:fltVal val="0.3625"/>
                                          </p:val>
                                        </p:tav>
                                        <p:tav tm="39330">
                                          <p:val>
                                            <p:fltVal val="0.3973"/>
                                          </p:val>
                                        </p:tav>
                                        <p:tav tm="40450">
                                          <p:val>
                                            <p:fltVal val="0.4256"/>
                                          </p:val>
                                        </p:tav>
                                        <p:tav tm="41570">
                                          <p:val>
                                            <p:fltVal val="0.448"/>
                                          </p:val>
                                        </p:tav>
                                        <p:tav tm="42700">
                                          <p:val>
                                            <p:fltVal val="0.4655"/>
                                          </p:val>
                                        </p:tav>
                                        <p:tav tm="43820">
                                          <p:val>
                                            <p:fltVal val="0.4786"/>
                                          </p:val>
                                        </p:tav>
                                        <p:tav tm="44940">
                                          <p:val>
                                            <p:fltVal val="0.4878"/>
                                          </p:val>
                                        </p:tav>
                                        <p:tav tm="46070">
                                          <p:val>
                                            <p:fltVal val="0.4939"/>
                                          </p:val>
                                        </p:tav>
                                        <p:tav tm="47190">
                                          <p:val>
                                            <p:fltVal val="0.4975"/>
                                          </p:val>
                                        </p:tav>
                                        <p:tav tm="48310">
                                          <p:val>
                                            <p:fltVal val="0.4993"/>
                                          </p:val>
                                        </p:tav>
                                        <p:tav tm="49440">
                                          <p:val>
                                            <p:fltVal val="0.4999"/>
                                          </p:val>
                                        </p:tav>
                                        <p:tav tm="50560">
                                          <p:val>
                                            <p:fltVal val="0.4999"/>
                                          </p:val>
                                        </p:tav>
                                        <p:tav tm="51690">
                                          <p:val>
                                            <p:fltVal val="0.4998"/>
                                          </p:val>
                                        </p:tav>
                                        <p:tav tm="52810">
                                          <p:val>
                                            <p:fltVal val="0.4988"/>
                                          </p:val>
                                        </p:tav>
                                        <p:tav tm="53930">
                                          <p:val>
                                            <p:fltVal val="0.4965"/>
                                          </p:val>
                                        </p:tav>
                                        <p:tav tm="55060">
                                          <p:val>
                                            <p:fltVal val="0.4921"/>
                                          </p:val>
                                        </p:tav>
                                        <p:tav tm="56180">
                                          <p:val>
                                            <p:fltVal val="0.485"/>
                                          </p:val>
                                        </p:tav>
                                        <p:tav tm="57300">
                                          <p:val>
                                            <p:fltVal val="0.4746"/>
                                          </p:val>
                                        </p:tav>
                                        <p:tav tm="58430">
                                          <p:val>
                                            <p:fltVal val="0.4603"/>
                                          </p:val>
                                        </p:tav>
                                        <p:tav tm="59550">
                                          <p:val>
                                            <p:fltVal val="0.4411"/>
                                          </p:val>
                                        </p:tav>
                                        <p:tav tm="60670">
                                          <p:val>
                                            <p:fltVal val="0.4169"/>
                                          </p:val>
                                        </p:tav>
                                        <p:tav tm="61800">
                                          <p:val>
                                            <p:fltVal val="0.3868"/>
                                          </p:val>
                                        </p:tav>
                                        <p:tav tm="62920">
                                          <p:val>
                                            <p:fltVal val="0.3499"/>
                                          </p:val>
                                        </p:tav>
                                        <p:tav tm="64040">
                                          <p:val>
                                            <p:fltVal val="0.306"/>
                                          </p:val>
                                        </p:tav>
                                        <p:tav tm="65170">
                                          <p:val>
                                            <p:fltVal val="0.2544"/>
                                          </p:val>
                                        </p:tav>
                                        <p:tav tm="66290">
                                          <p:val>
                                            <p:fltVal val="0.1981"/>
                                          </p:val>
                                        </p:tav>
                                        <p:tav tm="67420">
                                          <p:val>
                                            <p:fltVal val="0.1498"/>
                                          </p:val>
                                        </p:tav>
                                        <p:tav tm="68540">
                                          <p:val>
                                            <p:fltVal val="0.1087"/>
                                          </p:val>
                                        </p:tav>
                                        <p:tav tm="69660">
                                          <p:val>
                                            <p:fltVal val="0.0748"/>
                                          </p:val>
                                        </p:tav>
                                        <p:tav tm="70790">
                                          <p:val>
                                            <p:fltVal val="0.0473"/>
                                          </p:val>
                                        </p:tav>
                                        <p:tav tm="71910">
                                          <p:val>
                                            <p:fltVal val="0.0251"/>
                                          </p:val>
                                        </p:tav>
                                        <p:tav tm="73030">
                                          <p:val>
                                            <p:fltVal val="0.0082"/>
                                          </p:val>
                                        </p:tav>
                                        <p:tav tm="74160">
                                          <p:val>
                                            <p:fltVal val="-0.0044"/>
                                          </p:val>
                                        </p:tav>
                                        <p:tav tm="75280">
                                          <p:val>
                                            <p:fltVal val="-0.0134"/>
                                          </p:val>
                                        </p:tav>
                                        <p:tav tm="76400">
                                          <p:val>
                                            <p:fltVal val="-0.0192"/>
                                          </p:val>
                                        </p:tav>
                                        <p:tav tm="77530">
                                          <p:val>
                                            <p:fltVal val="-0.0227"/>
                                          </p:val>
                                        </p:tav>
                                        <p:tav tm="78650">
                                          <p:val>
                                            <p:fltVal val="-0.0244"/>
                                          </p:val>
                                        </p:tav>
                                        <p:tav tm="79780">
                                          <p:val>
                                            <p:fltVal val="-0.0249"/>
                                          </p:val>
                                        </p:tav>
                                        <p:tav tm="80900">
                                          <p:val>
                                            <p:fltVal val="-0.0249"/>
                                          </p:val>
                                        </p:tav>
                                        <p:tav tm="82020">
                                          <p:val>
                                            <p:fltVal val="-0.0244"/>
                                          </p:val>
                                        </p:tav>
                                        <p:tav tm="83150">
                                          <p:val>
                                            <p:fltVal val="-0.0219"/>
                                          </p:val>
                                        </p:tav>
                                        <p:tav tm="84270">
                                          <p:val>
                                            <p:fltVal val="-0.0156"/>
                                          </p:val>
                                        </p:tav>
                                        <p:tav tm="85390">
                                          <p:val>
                                            <p:fltVal val="-0.0039"/>
                                          </p:val>
                                        </p:tav>
                                        <p:tav tm="86520">
                                          <p:val>
                                            <p:fltVal val="0.0104"/>
                                          </p:val>
                                        </p:tav>
                                        <p:tav tm="87640">
                                          <p:val>
                                            <p:fltVal val="0.0192"/>
                                          </p:val>
                                        </p:tav>
                                        <p:tav tm="88760">
                                          <p:val>
                                            <p:fltVal val="0.0235"/>
                                          </p:val>
                                        </p:tav>
                                        <p:tav tm="89890">
                                          <p:val>
                                            <p:fltVal val="0.0248"/>
                                          </p:val>
                                        </p:tav>
                                        <p:tav tm="91010">
                                          <p:val>
                                            <p:fltVal val="0.0249"/>
                                          </p:val>
                                        </p:tav>
                                        <p:tav tm="92130">
                                          <p:val>
                                            <p:fltVal val="0.0247"/>
                                          </p:val>
                                        </p:tav>
                                        <p:tav tm="93260">
                                          <p:val>
                                            <p:fltVal val="0.0234"/>
                                          </p:val>
                                        </p:tav>
                                        <p:tav tm="94380">
                                          <p:val>
                                            <p:fltVal val="0.0202"/>
                                          </p:val>
                                        </p:tav>
                                        <p:tav tm="95510">
                                          <p:val>
                                            <p:fltVal val="0.0143"/>
                                          </p:val>
                                        </p:tav>
                                        <p:tav tm="96630">
                                          <p:val>
                                            <p:fltVal val="0.0071"/>
                                          </p:val>
                                        </p:tav>
                                        <p:tav tm="97750">
                                          <p:val>
                                            <p:fltVal val="0.0027"/>
                                          </p:val>
                                        </p:tav>
                                        <p:tav tm="98880">
                                          <p:val>
                                            <p:fltVal val="0.000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0.9999"/>
                                          </p:val>
                                        </p:tav>
                                        <p:tav tm="2250">
                                          <p:val>
                                            <p:fltVal val="0.9994"/>
                                          </p:val>
                                        </p:tav>
                                        <p:tav tm="3370">
                                          <p:val>
                                            <p:fltVal val="0.9981"/>
                                          </p:val>
                                        </p:tav>
                                        <p:tav tm="4490">
                                          <p:val>
                                            <p:fltVal val="0.9955"/>
                                          </p:val>
                                        </p:tav>
                                        <p:tav tm="5620">
                                          <p:val>
                                            <p:fltVal val="0.9913"/>
                                          </p:val>
                                        </p:tav>
                                        <p:tav tm="6740">
                                          <p:val>
                                            <p:fltVal val="0.985"/>
                                          </p:val>
                                        </p:tav>
                                        <p:tav tm="7870">
                                          <p:val>
                                            <p:fltVal val="0.9763"/>
                                          </p:val>
                                        </p:tav>
                                        <p:tav tm="8990">
                                          <p:val>
                                            <p:fltVal val="0.9646"/>
                                          </p:val>
                                        </p:tav>
                                        <p:tav tm="10110">
                                          <p:val>
                                            <p:fltVal val="0.9497"/>
                                          </p:val>
                                        </p:tav>
                                        <p:tav tm="11240">
                                          <p:val>
                                            <p:fltVal val="0.9348"/>
                                          </p:val>
                                        </p:tav>
                                        <p:tav tm="12360">
                                          <p:val>
                                            <p:fltVal val="0.9232"/>
                                          </p:val>
                                        </p:tav>
                                        <p:tav tm="13480">
                                          <p:val>
                                            <p:fltVal val="0.9146"/>
                                          </p:val>
                                        </p:tav>
                                        <p:tav tm="14610">
                                          <p:val>
                                            <p:fltVal val="0.9084"/>
                                          </p:val>
                                        </p:tav>
                                        <p:tav tm="15730">
                                          <p:val>
                                            <p:fltVal val="0.9042"/>
                                          </p:val>
                                        </p:tav>
                                        <p:tav tm="16850">
                                          <p:val>
                                            <p:fltVal val="0.9017"/>
                                          </p:val>
                                        </p:tav>
                                        <p:tav tm="17980">
                                          <p:val>
                                            <p:fltVal val="0.9005"/>
                                          </p:val>
                                        </p:tav>
                                        <p:tav tm="19100">
                                          <p:val>
                                            <p:fltVal val="0.9"/>
                                          </p:val>
                                        </p:tav>
                                        <p:tav tm="20220">
                                          <p:val>
                                            <p:fltVal val="0.8999"/>
                                          </p:val>
                                        </p:tav>
                                        <p:tav tm="21350">
                                          <p:val>
                                            <p:fltVal val="0.9006"/>
                                          </p:val>
                                        </p:tav>
                                        <p:tav tm="22470">
                                          <p:val>
                                            <p:fltVal val="0.9046"/>
                                          </p:val>
                                        </p:tav>
                                        <p:tav tm="23600">
                                          <p:val>
                                            <p:fltVal val="0.9153"/>
                                          </p:val>
                                        </p:tav>
                                        <p:tav tm="24720">
                                          <p:val>
                                            <p:fltVal val="0.9362"/>
                                          </p:val>
                                        </p:tav>
                                        <p:tav tm="25840">
                                          <p:val>
                                            <p:fltVal val="0.9659"/>
                                          </p:val>
                                        </p:tav>
                                        <p:tav tm="26970">
                                          <p:val>
                                            <p:fltVal val="0.9858"/>
                                          </p:val>
                                        </p:tav>
                                        <p:tav tm="28090">
                                          <p:val>
                                            <p:fltVal val="0.9959"/>
                                          </p:val>
                                        </p:tav>
                                        <p:tav tm="29210">
                                          <p:val>
                                            <p:fltVal val="0.9995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0.9998"/>
                                          </p:val>
                                        </p:tav>
                                        <p:tav tm="68540">
                                          <p:val>
                                            <p:fltVal val="0.9987"/>
                                          </p:val>
                                        </p:tav>
                                        <p:tav tm="69660">
                                          <p:val>
                                            <p:fltVal val="0.9955"/>
                                          </p:val>
                                        </p:tav>
                                        <p:tav tm="70790">
                                          <p:val>
                                            <p:fltVal val="0.9888"/>
                                          </p:val>
                                        </p:tav>
                                        <p:tav tm="71910">
                                          <p:val>
                                            <p:fltVal val="0.9775"/>
                                          </p:val>
                                        </p:tav>
                                        <p:tav tm="73030">
                                          <p:val>
                                            <p:fltVal val="0.9605"/>
                                          </p:val>
                                        </p:tav>
                                        <p:tav tm="74160">
                                          <p:val>
                                            <p:fltVal val="0.9385"/>
                                          </p:val>
                                        </p:tav>
                                        <p:tav tm="75280">
                                          <p:val>
                                            <p:fltVal val="0.9217"/>
                                          </p:val>
                                        </p:tav>
                                        <p:tav tm="76400">
                                          <p:val>
                                            <p:fltVal val="0.9107"/>
                                          </p:val>
                                        </p:tav>
                                        <p:tav tm="77530">
                                          <p:val>
                                            <p:fltVal val="0.9042"/>
                                          </p:val>
                                        </p:tav>
                                        <p:tav tm="78650">
                                          <p:val>
                                            <p:fltVal val="0.901"/>
                                          </p:val>
                                        </p:tav>
                                        <p:tav tm="79780">
                                          <p:val>
                                            <p:fltVal val="0.9"/>
                                          </p:val>
                                        </p:tav>
                                        <p:tav tm="80900">
                                          <p:val>
                                            <p:fltVal val="0.9"/>
                                          </p:val>
                                        </p:tav>
                                        <p:tav tm="82020">
                                          <p:val>
                                            <p:fltVal val="0.901"/>
                                          </p:val>
                                        </p:tav>
                                        <p:tav tm="83150">
                                          <p:val>
                                            <p:fltVal val="0.9061"/>
                                          </p:val>
                                        </p:tav>
                                        <p:tav tm="84270">
                                          <p:val>
                                            <p:fltVal val="0.9186"/>
                                          </p:val>
                                        </p:tav>
                                        <p:tav tm="85390">
                                          <p:val>
                                            <p:fltVal val="0.942"/>
                                          </p:val>
                                        </p:tav>
                                        <p:tav tm="86520">
                                          <p:val>
                                            <p:fltVal val="0.9709"/>
                                          </p:val>
                                        </p:tav>
                                        <p:tav tm="87640">
                                          <p:val>
                                            <p:fltVal val="0.9885"/>
                                          </p:val>
                                        </p:tav>
                                        <p:tav tm="88760">
                                          <p:val>
                                            <p:fltVal val="0.997"/>
                                          </p:val>
                                        </p:tav>
                                        <p:tav tm="89890">
                                          <p:val>
                                            <p:fltVal val="0.9997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6" dur="2000" fill="hold"/>
                                        <p:tgtEl>
                                          <p:spTgt spid="1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177</Words>
  <Application>Microsoft Office PowerPoint</Application>
  <PresentationFormat>Презентация на цял екран (16:9)</PresentationFormat>
  <Paragraphs>50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4" baseType="lpstr">
      <vt:lpstr>Calibri</vt:lpstr>
      <vt:lpstr>Arial</vt:lpstr>
      <vt:lpstr>PT Mono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PptxGenJS</dc:creator>
  <cp:lastModifiedBy>Костадин Костадинов</cp:lastModifiedBy>
  <cp:revision>17</cp:revision>
  <dcterms:created xsi:type="dcterms:W3CDTF">2026-01-15T12:11:17Z</dcterms:created>
  <dcterms:modified xsi:type="dcterms:W3CDTF">2026-03-28T01:47:42Z</dcterms:modified>
</cp:coreProperties>
</file>