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7" r:id="rId4"/>
    <p:sldId id="260" r:id="rId5"/>
    <p:sldId id="262" r:id="rId6"/>
    <p:sldId id="263" r:id="rId7"/>
    <p:sldId id="264" r:id="rId8"/>
    <p:sldId id="267" r:id="rId9"/>
    <p:sldId id="265" r:id="rId10"/>
    <p:sldId id="266" r:id="rId11"/>
  </p:sldIdLst>
  <p:sldSz cx="9144000" cy="5143500" type="screen16x9"/>
  <p:notesSz cx="5143500" cy="9144000"/>
  <p:embeddedFontLst>
    <p:embeddedFont>
      <p:font typeface="PT Mono" panose="02060509020205020204" pitchFamily="49" charset="-52"/>
      <p:regular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0" roundtripDataSignature="AMtx7miml5qiCSj3k9PFfL3kPWsBeWI5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5192DA-1D1D-4671-8FF2-E2AA36446289}" v="21" dt="2026-03-27T22:13:50.8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36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9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" name="Google Shape;34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" name="Google Shape;22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Купувачите търсят качество, но нямат лесен начин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да открият стопанства близо до тях.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Липсата на директна връзка принуждава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производителите да разчитат на прекупвачи,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което изсмуква печалбите им и изкуствено оскъпява продуктите.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bg-BG" altLang="bg-BG" sz="12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6382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" name="Google Shape;126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2.png"/><Relationship Id="rId18" Type="http://schemas.openxmlformats.org/officeDocument/2006/relationships/image" Target="../media/image37.png"/><Relationship Id="rId3" Type="http://schemas.openxmlformats.org/officeDocument/2006/relationships/image" Target="../media/image1.png"/><Relationship Id="rId21" Type="http://schemas.openxmlformats.org/officeDocument/2006/relationships/image" Target="../media/image3.png"/><Relationship Id="rId7" Type="http://schemas.openxmlformats.org/officeDocument/2006/relationships/image" Target="../media/image28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5.pn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18.png"/><Relationship Id="rId5" Type="http://schemas.openxmlformats.org/officeDocument/2006/relationships/image" Target="../media/image26.png"/><Relationship Id="rId15" Type="http://schemas.openxmlformats.org/officeDocument/2006/relationships/image" Target="../media/image34.png"/><Relationship Id="rId10" Type="http://schemas.openxmlformats.org/officeDocument/2006/relationships/image" Target="../media/image22.png"/><Relationship Id="rId19" Type="http://schemas.openxmlformats.org/officeDocument/2006/relationships/image" Target="../media/image23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52250" y="65314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321019" y="2571750"/>
            <a:ext cx="5556437" cy="5556437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"/>
          <p:cNvSpPr/>
          <p:nvPr/>
        </p:nvSpPr>
        <p:spPr>
          <a:xfrm>
            <a:off x="1743074" y="2080532"/>
            <a:ext cx="56578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5714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250" dirty="0" err="1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NaturaLinka</a:t>
            </a:r>
            <a:endParaRPr sz="525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2628899" y="2637064"/>
            <a:ext cx="3886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T Mono"/>
              <a:buNone/>
            </a:pPr>
            <a:r>
              <a:rPr lang="bg-BG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8в</a:t>
            </a:r>
            <a:r>
              <a:rPr lang="en-GB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 </a:t>
            </a:r>
            <a:r>
              <a:rPr lang="bg-BG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елит</a:t>
            </a: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3543300" y="3714750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18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1410" y="4528148"/>
            <a:ext cx="1881178" cy="199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1" descr="A green circle with lines and circles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76058" y="-3013975"/>
            <a:ext cx="6720928" cy="6442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3" descr="A yellow circle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786326" y="-6883855"/>
            <a:ext cx="14460770" cy="1446077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3"/>
          <p:cNvSpPr/>
          <p:nvPr/>
        </p:nvSpPr>
        <p:spPr>
          <a:xfrm>
            <a:off x="5829300" y="2147888"/>
            <a:ext cx="5100638" cy="5100638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97586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44452" y="2018076"/>
            <a:ext cx="3548063" cy="3367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544185" y="2937239"/>
            <a:ext cx="2048330" cy="1776412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3"/>
          <p:cNvSpPr/>
          <p:nvPr/>
        </p:nvSpPr>
        <p:spPr>
          <a:xfrm>
            <a:off x="640554" y="403588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000" dirty="0" err="1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Цел</a:t>
            </a:r>
            <a:r>
              <a:rPr lang="bg-BG" sz="4000" dirty="0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и</a:t>
            </a:r>
            <a:r>
              <a:rPr lang="en-US" sz="4000" dirty="0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на</a:t>
            </a:r>
            <a:r>
              <a:rPr lang="en-US" sz="4000" dirty="0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проекта</a:t>
            </a:r>
            <a:endParaRPr sz="40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2596530" y="1756162"/>
            <a:ext cx="3950937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bg-BG" sz="2000" dirty="0">
                <a:solidFill>
                  <a:schemeClr val="bg1"/>
                </a:solidFill>
                <a:latin typeface="+mn-lt"/>
                <a:sym typeface="PT Mono"/>
              </a:rPr>
              <a:t>1.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По-голяма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свързаност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 между производители и</a:t>
            </a:r>
            <a:r>
              <a:rPr lang="en-GB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купувачи</a:t>
            </a:r>
            <a:r>
              <a:rPr lang="en-GB" sz="2000" dirty="0">
                <a:solidFill>
                  <a:schemeClr val="bg1"/>
                </a:solidFill>
                <a:latin typeface="+mn-lt"/>
              </a:rPr>
              <a:t>.</a:t>
            </a:r>
          </a:p>
          <a:p>
            <a:endParaRPr lang="en-US" sz="2000" dirty="0">
              <a:solidFill>
                <a:schemeClr val="bg1"/>
              </a:solidFill>
              <a:latin typeface="+mn-lt"/>
              <a:ea typeface="PT Mono"/>
              <a:cs typeface="PT Mono"/>
              <a:sym typeface="PT Mono"/>
            </a:endParaRPr>
          </a:p>
          <a:p>
            <a:r>
              <a:rPr lang="bg-BG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2. Стимулиране на местната икономика</a:t>
            </a:r>
            <a:r>
              <a:rPr lang="en-GB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.</a:t>
            </a:r>
            <a:endParaRPr lang="en-US" sz="2000" dirty="0">
              <a:solidFill>
                <a:schemeClr val="bg1"/>
              </a:solidFill>
              <a:latin typeface="+mn-lt"/>
              <a:ea typeface="PT Mono"/>
              <a:cs typeface="PT Mono"/>
              <a:sym typeface="PT Mon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2" descr="A green circle with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109741" y="-1475815"/>
            <a:ext cx="4066523" cy="404756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762" y="-16772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28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35280" y="3878212"/>
            <a:ext cx="2239782" cy="21951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39526" y="0"/>
            <a:ext cx="2338388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10313" y="1683027"/>
            <a:ext cx="2828925" cy="33766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"/>
          <p:cNvSpPr/>
          <p:nvPr/>
        </p:nvSpPr>
        <p:spPr>
          <a:xfrm>
            <a:off x="871538" y="426244"/>
            <a:ext cx="76404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rgbClr val="FFFFFF"/>
              </a:buClr>
              <a:buSzPts val="4500"/>
            </a:pPr>
            <a:r>
              <a:rPr lang="az-Cyrl-AZ" sz="4000" dirty="0">
                <a:solidFill>
                  <a:schemeClr val="bg1"/>
                </a:solidFill>
              </a:rPr>
              <a:t>Проблеми за решаване</a:t>
            </a:r>
            <a:endParaRPr sz="40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9EBB247-B33A-3E16-4691-9C2864EAD4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8720" y="1970434"/>
            <a:ext cx="7082388" cy="21852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bg-BG" altLang="bg-BG" sz="2000" dirty="0">
                <a:solidFill>
                  <a:schemeClr val="bg1"/>
                </a:solidFill>
                <a:latin typeface="Arial" panose="020B0604020202020204" pitchFamily="34" charset="0"/>
              </a:rPr>
              <a:t>1. Липса на свързаност и директна връзка между клиенти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bg-BG" altLang="bg-BG" sz="2000" dirty="0">
                <a:solidFill>
                  <a:schemeClr val="bg1"/>
                </a:solidFill>
                <a:latin typeface="Arial" panose="020B0604020202020204" pitchFamily="34" charset="0"/>
              </a:rPr>
              <a:t>и производители.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bg-BG" altLang="bg-BG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bg-BG" altLang="bg-BG" sz="2000" dirty="0">
                <a:solidFill>
                  <a:schemeClr val="bg1"/>
                </a:solidFill>
                <a:latin typeface="Arial" panose="020B0604020202020204" pitchFamily="34" charset="0"/>
              </a:rPr>
              <a:t>2. Разчитане на прекупвачи, вместо на производители.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bg-BG" altLang="bg-BG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bg-BG" altLang="bg-BG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bg-BG" altLang="bg-BG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" name="Google Shape;63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5"/>
          <p:cNvSpPr/>
          <p:nvPr/>
        </p:nvSpPr>
        <p:spPr>
          <a:xfrm>
            <a:off x="640556" y="502116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Как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работи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проектът</a:t>
            </a: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" name="Google Shape;65;p5" descr="A green circle with a black background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656057" y="2840477"/>
            <a:ext cx="51435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5" descr="A circular logo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69531" y="107385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1924493" y="1861482"/>
            <a:ext cx="529501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bg1"/>
                </a:solidFill>
              </a:rPr>
              <a:t>За производители: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Качване</a:t>
            </a:r>
            <a:r>
              <a:rPr lang="ru-RU" sz="2000" dirty="0">
                <a:solidFill>
                  <a:schemeClr val="bg1"/>
                </a:solidFill>
              </a:rPr>
              <a:t> на </a:t>
            </a:r>
            <a:r>
              <a:rPr lang="ru-RU" sz="2000" dirty="0" err="1">
                <a:solidFill>
                  <a:schemeClr val="bg1"/>
                </a:solidFill>
              </a:rPr>
              <a:t>обяви</a:t>
            </a:r>
            <a:r>
              <a:rPr lang="ru-RU" sz="2000" dirty="0">
                <a:solidFill>
                  <a:schemeClr val="bg1"/>
                </a:solidFill>
              </a:rPr>
              <a:t> с </a:t>
            </a:r>
            <a:r>
              <a:rPr lang="ru-RU" sz="2000" dirty="0" err="1">
                <a:solidFill>
                  <a:schemeClr val="bg1"/>
                </a:solidFill>
              </a:rPr>
              <a:t>продукти</a:t>
            </a:r>
            <a:r>
              <a:rPr lang="en-GB" sz="2000" dirty="0">
                <a:solidFill>
                  <a:schemeClr val="bg1"/>
                </a:solidFill>
              </a:rPr>
              <a:t>, </a:t>
            </a:r>
            <a:r>
              <a:rPr lang="ru-RU" sz="2000" dirty="0">
                <a:solidFill>
                  <a:schemeClr val="bg1"/>
                </a:solidFill>
              </a:rPr>
              <a:t>цени и локация</a:t>
            </a:r>
            <a:r>
              <a:rPr lang="bg-BG" sz="2000" dirty="0">
                <a:solidFill>
                  <a:schemeClr val="bg1"/>
                </a:solidFill>
              </a:rPr>
              <a:t>.</a:t>
            </a:r>
            <a:endParaRPr lang="en-GB" sz="2000" dirty="0">
              <a:solidFill>
                <a:schemeClr val="bg1"/>
              </a:solidFill>
            </a:endParaRPr>
          </a:p>
          <a:p>
            <a:pPr algn="ctr"/>
            <a:endParaRPr lang="ru-RU" sz="2000" dirty="0">
              <a:solidFill>
                <a:schemeClr val="bg1"/>
              </a:solidFill>
            </a:endParaRPr>
          </a:p>
          <a:p>
            <a:pPr algn="ctr"/>
            <a:r>
              <a:rPr lang="ru-RU" sz="2000" b="1" dirty="0">
                <a:solidFill>
                  <a:schemeClr val="bg1"/>
                </a:solidFill>
              </a:rPr>
              <a:t>За потребители: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bg-BG" sz="2000" dirty="0">
                <a:solidFill>
                  <a:schemeClr val="bg1"/>
                </a:solidFill>
              </a:rPr>
              <a:t>Т</a:t>
            </a:r>
            <a:r>
              <a:rPr lang="ru-RU" sz="2000" dirty="0" err="1">
                <a:solidFill>
                  <a:schemeClr val="bg1"/>
                </a:solidFill>
              </a:rPr>
              <a:t>ърсене</a:t>
            </a:r>
            <a:r>
              <a:rPr lang="ru-RU" sz="2000" dirty="0">
                <a:solidFill>
                  <a:schemeClr val="bg1"/>
                </a:solidFill>
              </a:rPr>
              <a:t> с </a:t>
            </a:r>
            <a:r>
              <a:rPr lang="ru-RU" sz="2000" dirty="0" err="1">
                <a:solidFill>
                  <a:schemeClr val="bg1"/>
                </a:solidFill>
              </a:rPr>
              <a:t>филтри</a:t>
            </a:r>
            <a:r>
              <a:rPr lang="ru-RU" sz="2000" dirty="0">
                <a:solidFill>
                  <a:schemeClr val="bg1"/>
                </a:solidFill>
              </a:rPr>
              <a:t> за вид продукт</a:t>
            </a:r>
            <a:r>
              <a:rPr lang="en-GB" sz="2000" dirty="0">
                <a:solidFill>
                  <a:schemeClr val="bg1"/>
                </a:solidFill>
              </a:rPr>
              <a:t>, </a:t>
            </a:r>
            <a:r>
              <a:rPr lang="ru-RU" sz="2000" dirty="0">
                <a:solidFill>
                  <a:schemeClr val="bg1"/>
                </a:solidFill>
              </a:rPr>
              <a:t>цена</a:t>
            </a:r>
            <a:r>
              <a:rPr lang="en-GB" sz="2000" dirty="0">
                <a:solidFill>
                  <a:schemeClr val="bg1"/>
                </a:solidFill>
              </a:rPr>
              <a:t> </a:t>
            </a:r>
            <a:r>
              <a:rPr lang="ru-RU" sz="2000" dirty="0">
                <a:solidFill>
                  <a:schemeClr val="bg1"/>
                </a:solidFill>
              </a:rPr>
              <a:t> и разстояние.</a:t>
            </a:r>
          </a:p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7" descr="A black circle with yellow line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428486" y="2496639"/>
            <a:ext cx="6686550" cy="668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7" descr="A screen shot of a clock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71607" y="-329453"/>
            <a:ext cx="4133896" cy="6501324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7"/>
          <p:cNvSpPr/>
          <p:nvPr/>
        </p:nvSpPr>
        <p:spPr>
          <a:xfrm>
            <a:off x="594836" y="540068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Използвани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технологии</a:t>
            </a:r>
            <a:endParaRPr sz="4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969652" y="2169907"/>
            <a:ext cx="636890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Backend - Python, Flask;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Database - </a:t>
            </a:r>
            <a:r>
              <a:rPr lang="en-US" sz="2000" dirty="0" err="1">
                <a:solidFill>
                  <a:schemeClr val="bg1"/>
                </a:solidFill>
              </a:rPr>
              <a:t>Pymongo</a:t>
            </a:r>
            <a:r>
              <a:rPr lang="en-US" sz="2000" dirty="0">
                <a:solidFill>
                  <a:schemeClr val="bg1"/>
                </a:solidFill>
              </a:rPr>
              <a:t> (Driver for MongoDB);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GB" sz="2000" dirty="0">
                <a:solidFill>
                  <a:schemeClr val="bg1"/>
                </a:solidFill>
              </a:rPr>
              <a:t>Frontend - </a:t>
            </a:r>
            <a:r>
              <a:rPr lang="en-US" sz="2000" dirty="0">
                <a:solidFill>
                  <a:schemeClr val="bg1"/>
                </a:solidFill>
              </a:rPr>
              <a:t>Vue.js </a:t>
            </a:r>
            <a:r>
              <a:rPr lang="bg-BG" sz="2000" dirty="0">
                <a:solidFill>
                  <a:schemeClr val="bg1"/>
                </a:solidFill>
              </a:rPr>
              <a:t>и </a:t>
            </a:r>
            <a:r>
              <a:rPr lang="en-US" sz="2000" dirty="0">
                <a:solidFill>
                  <a:schemeClr val="bg1"/>
                </a:solidFill>
              </a:rPr>
              <a:t>Tailwind CSS;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6272213" y="3495675"/>
            <a:ext cx="3309938" cy="3309938"/>
          </a:xfrm>
          <a:prstGeom prst="ellipse">
            <a:avLst/>
          </a:prstGeom>
          <a:solidFill>
            <a:srgbClr val="FFB803">
              <a:alpha val="69803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6213" y="4763"/>
            <a:ext cx="2033588" cy="50863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8"/>
          <p:cNvSpPr/>
          <p:nvPr/>
        </p:nvSpPr>
        <p:spPr>
          <a:xfrm>
            <a:off x="816768" y="562957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Процес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на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работа</a:t>
            </a:r>
            <a:endParaRPr sz="4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8" descr="A green circle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37627" y="3582619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3123791" y="2225070"/>
            <a:ext cx="66350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1. </a:t>
            </a:r>
            <a:r>
              <a:rPr lang="ru-RU" sz="2400" dirty="0" err="1">
                <a:solidFill>
                  <a:schemeClr val="bg1"/>
                </a:solidFill>
              </a:rPr>
              <a:t>Генеране</a:t>
            </a:r>
            <a:r>
              <a:rPr lang="ru-RU" sz="2400" dirty="0">
                <a:solidFill>
                  <a:schemeClr val="bg1"/>
                </a:solidFill>
              </a:rPr>
              <a:t> на идеи</a:t>
            </a:r>
          </a:p>
          <a:p>
            <a:r>
              <a:rPr lang="ru-RU" sz="2400" dirty="0">
                <a:solidFill>
                  <a:schemeClr val="bg1"/>
                </a:solidFill>
              </a:rPr>
              <a:t>2. </a:t>
            </a:r>
            <a:r>
              <a:rPr lang="ru-RU" sz="2400" dirty="0" err="1">
                <a:solidFill>
                  <a:schemeClr val="bg1"/>
                </a:solidFill>
              </a:rPr>
              <a:t>Проучване</a:t>
            </a:r>
            <a:endParaRPr lang="ru-RU" sz="2400" dirty="0">
              <a:solidFill>
                <a:schemeClr val="bg1"/>
              </a:solidFill>
            </a:endParaRPr>
          </a:p>
          <a:p>
            <a:r>
              <a:rPr lang="ru-RU" sz="2400" dirty="0">
                <a:solidFill>
                  <a:schemeClr val="bg1"/>
                </a:solidFill>
              </a:rPr>
              <a:t>3. Разработка</a:t>
            </a:r>
          </a:p>
          <a:p>
            <a:r>
              <a:rPr lang="ru-RU" sz="2400" dirty="0">
                <a:solidFill>
                  <a:schemeClr val="bg1"/>
                </a:solidFill>
              </a:rPr>
              <a:t>4.  </a:t>
            </a:r>
            <a:r>
              <a:rPr lang="ru-RU" sz="2400" dirty="0" err="1">
                <a:solidFill>
                  <a:schemeClr val="bg1"/>
                </a:solidFill>
              </a:rPr>
              <a:t>Тестване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12" name="Google Shape;138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887051" y="3389427"/>
            <a:ext cx="2997316" cy="1983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007" y="3255168"/>
            <a:ext cx="2724150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9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0"/>
            <a:ext cx="2809875" cy="48958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9"/>
          <p:cNvSpPr/>
          <p:nvPr/>
        </p:nvSpPr>
        <p:spPr>
          <a:xfrm>
            <a:off x="745718" y="70785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bg-BG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ашето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преживяване</a:t>
            </a:r>
            <a:r>
              <a:rPr lang="bg-BG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като екип</a:t>
            </a:r>
            <a:endParaRPr sz="4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p9" descr="A black and gold circle with black lines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87060" y="2824163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1222744" y="2424229"/>
            <a:ext cx="6698511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ru-RU" sz="2400" dirty="0">
                <a:solidFill>
                  <a:schemeClr val="bg1"/>
                </a:solidFill>
              </a:rPr>
              <a:t>От сблъсъка на идеи и напрежението на крайните срокове се родиха най-добрите ни решения.</a:t>
            </a:r>
            <a:endParaRPr lang="ru-RU"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ctr"/>
            <a:endParaRPr lang="en-US" dirty="0"/>
          </a:p>
        </p:txBody>
      </p:sp>
      <p:pic>
        <p:nvPicPr>
          <p:cNvPr id="12" name="Google Shape;137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429166" y="3018184"/>
            <a:ext cx="2090518" cy="21918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9" descr="A black and gold circle with black line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459664" y="-1655361"/>
            <a:ext cx="8864569" cy="8864569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124098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9"/>
          <p:cNvSpPr/>
          <p:nvPr/>
        </p:nvSpPr>
        <p:spPr>
          <a:xfrm>
            <a:off x="745718" y="685340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r>
              <a:rPr lang="az-Cyrl-AZ" sz="4500" dirty="0">
                <a:solidFill>
                  <a:schemeClr val="bg1"/>
                </a:solidFill>
                <a:latin typeface="PT Mono" panose="020B0604020202020204" charset="0"/>
              </a:rPr>
              <a:t>Менторско</a:t>
            </a:r>
            <a:r>
              <a:rPr lang="en-US" sz="4500" dirty="0">
                <a:solidFill>
                  <a:schemeClr val="bg1"/>
                </a:solidFill>
                <a:latin typeface="PT Mono" panose="020B0604020202020204" charset="0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преживяване</a:t>
            </a:r>
            <a:endParaRPr sz="4500" dirty="0">
              <a:solidFill>
                <a:schemeClr val="dk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146;p11" descr="preencoded.png">
            <a:extLst>
              <a:ext uri="{FF2B5EF4-FFF2-40B4-BE49-F238E27FC236}">
                <a16:creationId xmlns:a16="http://schemas.microsoft.com/office/drawing/2014/main" id="{816CBF65-3C6C-0653-800E-30F400C084F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57077" y="1743460"/>
            <a:ext cx="1023938" cy="20669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2085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0" descr="A circular object with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21475" y="428319"/>
            <a:ext cx="10786950" cy="10786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0"/>
          <p:cNvSpPr/>
          <p:nvPr/>
        </p:nvSpPr>
        <p:spPr>
          <a:xfrm>
            <a:off x="871538" y="2047875"/>
            <a:ext cx="7862888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825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Благодарим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ви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за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вниманието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!</a:t>
            </a:r>
            <a:endParaRPr sz="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0"/>
          <p:cNvSpPr/>
          <p:nvPr/>
        </p:nvSpPr>
        <p:spPr>
          <a:xfrm>
            <a:off x="3543300" y="3933825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1411" y="4515528"/>
            <a:ext cx="1881178" cy="1996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9010" y="802482"/>
            <a:ext cx="1314450" cy="158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276475" y="768706"/>
            <a:ext cx="1643063" cy="128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88744" y="2305050"/>
            <a:ext cx="1576388" cy="1533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50556" y="2897980"/>
            <a:ext cx="1619250" cy="1443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1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66900" y="2195513"/>
            <a:ext cx="1647825" cy="1338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1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239189" y="1435145"/>
            <a:ext cx="2052637" cy="134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1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942807" y="1777734"/>
            <a:ext cx="1589791" cy="1666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1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297449" y="2648611"/>
            <a:ext cx="2324100" cy="1538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1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007409" y="3838575"/>
            <a:ext cx="809625" cy="9667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1" descr="preencoded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3193644" y="566285"/>
            <a:ext cx="3771900" cy="138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1" descr="preencoded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5424488" y="3462338"/>
            <a:ext cx="638175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1" descr="preencoded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143875" y="1047750"/>
            <a:ext cx="581025" cy="695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1" descr="preencoded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6656810" y="3417755"/>
            <a:ext cx="852488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1" descr="preencoded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5919788" y="4300538"/>
            <a:ext cx="881063" cy="681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1" descr="preencoded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260431" y="3284504"/>
            <a:ext cx="1804988" cy="17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1" descr="preencoded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6453575" y="961214"/>
            <a:ext cx="1023938" cy="2066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1" descr="preencoded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7673659" y="2144646"/>
            <a:ext cx="1333500" cy="116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1"/>
          <p:cNvSpPr/>
          <p:nvPr/>
        </p:nvSpPr>
        <p:spPr>
          <a:xfrm>
            <a:off x="3543300" y="3933825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1"/>
          <p:cNvSpPr/>
          <p:nvPr/>
        </p:nvSpPr>
        <p:spPr>
          <a:xfrm>
            <a:off x="871538" y="276225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Добрита за използване</a:t>
            </a:r>
            <a:endParaRPr sz="4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1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3631411" y="4517493"/>
            <a:ext cx="1881178" cy="1996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</TotalTime>
  <Words>198</Words>
  <Application>Microsoft Office PowerPoint</Application>
  <PresentationFormat>Презентация на цял екран (16:9)</PresentationFormat>
  <Paragraphs>47</Paragraphs>
  <Slides>10</Slides>
  <Notes>10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10</vt:i4>
      </vt:variant>
    </vt:vector>
  </HeadingPairs>
  <TitlesOfParts>
    <vt:vector size="14" baseType="lpstr">
      <vt:lpstr>PT Mono</vt:lpstr>
      <vt:lpstr>Calibri</vt:lpstr>
      <vt:lpstr>Arial</vt:lpstr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PptxGenJS</dc:creator>
  <cp:lastModifiedBy>Костадин Костадинов</cp:lastModifiedBy>
  <cp:revision>13</cp:revision>
  <dcterms:created xsi:type="dcterms:W3CDTF">2026-01-15T12:11:17Z</dcterms:created>
  <dcterms:modified xsi:type="dcterms:W3CDTF">2026-03-27T22:14:51Z</dcterms:modified>
</cp:coreProperties>
</file>