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60" r:id="rId5"/>
    <p:sldId id="262" r:id="rId6"/>
    <p:sldId id="263" r:id="rId7"/>
    <p:sldId id="264" r:id="rId8"/>
    <p:sldId id="267" r:id="rId9"/>
    <p:sldId id="268" r:id="rId10"/>
    <p:sldId id="265" r:id="rId11"/>
    <p:sldId id="266" r:id="rId12"/>
  </p:sldIdLst>
  <p:sldSz cx="9144000" cy="5143500" type="screen16x9"/>
  <p:notesSz cx="5143500" cy="9144000"/>
  <p:embeddedFontLst>
    <p:embeddedFont>
      <p:font typeface="PT Mono" panose="02060509020205020204" pitchFamily="49" charset="-52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iml5qiCSj3k9PFfL3kPWsBeWI5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5192DA-1D1D-4671-8FF2-E2AA36446289}" v="21" dt="2026-03-27T22:13:50.8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6" autoAdjust="0"/>
    <p:restoredTop sz="94660"/>
  </p:normalViewPr>
  <p:slideViewPr>
    <p:cSldViewPr snapToGrid="0">
      <p:cViewPr varScale="1">
        <p:scale>
          <a:sx n="94" d="100"/>
          <a:sy n="94" d="100"/>
        </p:scale>
        <p:origin x="53" y="-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Купувачите търсят качество, но нямат лесен начин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g-BG" altLang="bg-BG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да открият стопанства близо до тях.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Липсата на директна връзка принуждава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производителите да разчитат на прекупвачи,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което изсмуква печалбите им и изкуствено оскъпява продуктите.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bg-BG" altLang="bg-BG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63823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DC32A69C-A7C1-2C7E-2B63-AFD83FB64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>
            <a:extLst>
              <a:ext uri="{FF2B5EF4-FFF2-40B4-BE49-F238E27FC236}">
                <a16:creationId xmlns:a16="http://schemas.microsoft.com/office/drawing/2014/main" id="{50AE3366-98B9-0DAB-7819-D2821E603F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9:notes">
            <a:extLst>
              <a:ext uri="{FF2B5EF4-FFF2-40B4-BE49-F238E27FC236}">
                <a16:creationId xmlns:a16="http://schemas.microsoft.com/office/drawing/2014/main" id="{875EE2F0-F1B8-894D-852C-82E8B5C8B3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:notes">
            <a:extLst>
              <a:ext uri="{FF2B5EF4-FFF2-40B4-BE49-F238E27FC236}">
                <a16:creationId xmlns:a16="http://schemas.microsoft.com/office/drawing/2014/main" id="{4716880F-0816-624E-32B3-BAA66323AF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76096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1.png"/><Relationship Id="rId21" Type="http://schemas.openxmlformats.org/officeDocument/2006/relationships/image" Target="../media/image3.png"/><Relationship Id="rId7" Type="http://schemas.openxmlformats.org/officeDocument/2006/relationships/image" Target="../media/image29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36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18.png"/><Relationship Id="rId5" Type="http://schemas.openxmlformats.org/officeDocument/2006/relationships/image" Target="../media/image27.png"/><Relationship Id="rId15" Type="http://schemas.openxmlformats.org/officeDocument/2006/relationships/image" Target="../media/image35.png"/><Relationship Id="rId10" Type="http://schemas.openxmlformats.org/officeDocument/2006/relationships/image" Target="../media/image22.png"/><Relationship Id="rId19" Type="http://schemas.openxmlformats.org/officeDocument/2006/relationships/image" Target="../media/image23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2250" y="65314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321019" y="2571750"/>
            <a:ext cx="5556437" cy="55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1743074" y="2080532"/>
            <a:ext cx="56578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57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525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NaturaLinka</a:t>
            </a:r>
            <a:endParaRPr sz="525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2628899" y="2637064"/>
            <a:ext cx="3886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T Mono"/>
              <a:buNone/>
            </a:pPr>
            <a:r>
              <a:rPr lang="bg-BG" sz="3600" dirty="0">
                <a:solidFill>
                  <a:srgbClr val="FFFFFF"/>
                </a:solidFill>
                <a:latin typeface="PT Mono"/>
                <a:ea typeface="Calibri"/>
                <a:cs typeface="Calibri"/>
                <a:sym typeface="PT Mono"/>
              </a:rPr>
              <a:t>8в</a:t>
            </a:r>
            <a:r>
              <a:rPr lang="en-GB" sz="3600" dirty="0">
                <a:solidFill>
                  <a:srgbClr val="FFFFFF"/>
                </a:solidFill>
                <a:latin typeface="PT Mono"/>
                <a:ea typeface="Calibri"/>
                <a:cs typeface="Calibri"/>
                <a:sym typeface="PT Mono"/>
              </a:rPr>
              <a:t> </a:t>
            </a:r>
            <a:r>
              <a:rPr lang="bg-BG" sz="3600" dirty="0">
                <a:solidFill>
                  <a:srgbClr val="FFFFFF"/>
                </a:solidFill>
                <a:latin typeface="PT Mono"/>
                <a:ea typeface="Calibri"/>
                <a:cs typeface="Calibri"/>
                <a:sym typeface="PT Mono"/>
              </a:rPr>
              <a:t>елит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543300" y="3714750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1410" y="4528148"/>
            <a:ext cx="1881178" cy="199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 descr="A green circle with lines and circles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76058" y="-3013975"/>
            <a:ext cx="6720928" cy="6442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" descr="A yellow circle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786326" y="-6883855"/>
            <a:ext cx="14460770" cy="1446077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5829300" y="2147888"/>
            <a:ext cx="5100638" cy="510063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97586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44452" y="2018076"/>
            <a:ext cx="3548063" cy="3367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44185" y="2937239"/>
            <a:ext cx="2048330" cy="177641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/>
          <p:nvPr/>
        </p:nvSpPr>
        <p:spPr>
          <a:xfrm>
            <a:off x="640554" y="40358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000" dirty="0" err="1">
                <a:solidFill>
                  <a:srgbClr val="FFFFFF"/>
                </a:solidFill>
                <a:latin typeface="+mn-lt"/>
                <a:ea typeface="PT Mono"/>
                <a:cs typeface="PT Mono"/>
                <a:sym typeface="PT Mono"/>
              </a:rPr>
              <a:t>Цел</a:t>
            </a:r>
            <a:r>
              <a:rPr lang="bg-BG" sz="4000" dirty="0">
                <a:solidFill>
                  <a:srgbClr val="FFFFFF"/>
                </a:solidFill>
                <a:latin typeface="+mn-lt"/>
                <a:ea typeface="PT Mono"/>
                <a:cs typeface="PT Mono"/>
                <a:sym typeface="PT Mono"/>
              </a:rPr>
              <a:t>и</a:t>
            </a:r>
            <a:r>
              <a:rPr lang="en-US" sz="4000" dirty="0">
                <a:solidFill>
                  <a:srgbClr val="FFFFFF"/>
                </a:solidFill>
                <a:latin typeface="+mn-lt"/>
                <a:ea typeface="PT Mono"/>
                <a:cs typeface="PT Mono"/>
                <a:sym typeface="PT Mono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+mn-lt"/>
                <a:ea typeface="PT Mono"/>
                <a:cs typeface="PT Mono"/>
                <a:sym typeface="PT Mono"/>
              </a:rPr>
              <a:t>на</a:t>
            </a:r>
            <a:r>
              <a:rPr lang="en-US" sz="4000" dirty="0">
                <a:solidFill>
                  <a:srgbClr val="FFFFFF"/>
                </a:solidFill>
                <a:latin typeface="+mn-lt"/>
                <a:ea typeface="PT Mono"/>
                <a:cs typeface="PT Mono"/>
                <a:sym typeface="PT Mono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+mn-lt"/>
                <a:ea typeface="PT Mono"/>
                <a:cs typeface="PT Mono"/>
                <a:sym typeface="PT Mono"/>
              </a:rPr>
              <a:t>проекта</a:t>
            </a:r>
            <a:endParaRPr sz="40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2596530" y="1756162"/>
            <a:ext cx="3950937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bg-BG" sz="2000" dirty="0">
                <a:solidFill>
                  <a:schemeClr val="bg1"/>
                </a:solidFill>
                <a:latin typeface="+mn-lt"/>
                <a:sym typeface="PT Mono"/>
              </a:rPr>
              <a:t>1. </a:t>
            </a:r>
            <a:r>
              <a:rPr lang="ru-RU" sz="2000" dirty="0" err="1">
                <a:solidFill>
                  <a:schemeClr val="bg1"/>
                </a:solidFill>
                <a:latin typeface="+mn-lt"/>
              </a:rPr>
              <a:t>По-голяма</a:t>
            </a:r>
            <a:r>
              <a:rPr lang="ru-RU" sz="2000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+mn-lt"/>
              </a:rPr>
              <a:t>свързаност</a:t>
            </a:r>
            <a:r>
              <a:rPr lang="ru-RU" sz="2000" dirty="0">
                <a:solidFill>
                  <a:schemeClr val="bg1"/>
                </a:solidFill>
                <a:latin typeface="+mn-lt"/>
              </a:rPr>
              <a:t> между производители и</a:t>
            </a:r>
            <a:r>
              <a:rPr lang="en-GB" sz="2000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+mn-lt"/>
              </a:rPr>
              <a:t>купувачи</a:t>
            </a:r>
            <a:r>
              <a:rPr lang="en-GB" sz="2000" dirty="0">
                <a:solidFill>
                  <a:schemeClr val="bg1"/>
                </a:solidFill>
                <a:latin typeface="+mn-lt"/>
              </a:rPr>
              <a:t>.</a:t>
            </a:r>
          </a:p>
          <a:p>
            <a:endParaRPr lang="en-US" sz="2000" dirty="0">
              <a:solidFill>
                <a:schemeClr val="bg1"/>
              </a:solidFill>
              <a:latin typeface="+mn-lt"/>
              <a:ea typeface="PT Mono"/>
              <a:cs typeface="PT Mono"/>
              <a:sym typeface="PT Mono"/>
            </a:endParaRPr>
          </a:p>
          <a:p>
            <a:r>
              <a:rPr lang="bg-BG" sz="2000" dirty="0">
                <a:solidFill>
                  <a:schemeClr val="bg1"/>
                </a:solidFill>
                <a:latin typeface="+mn-lt"/>
                <a:ea typeface="PT Mono"/>
                <a:cs typeface="PT Mono"/>
                <a:sym typeface="PT Mono"/>
              </a:rPr>
              <a:t>2. Стимулиране на местната икономика</a:t>
            </a:r>
            <a:r>
              <a:rPr lang="en-GB" sz="2000" dirty="0">
                <a:solidFill>
                  <a:schemeClr val="bg1"/>
                </a:solidFill>
                <a:latin typeface="+mn-lt"/>
                <a:ea typeface="PT Mono"/>
                <a:cs typeface="PT Mono"/>
                <a:sym typeface="PT Mono"/>
              </a:rPr>
              <a:t>.</a:t>
            </a:r>
            <a:endParaRPr lang="en-US" sz="2000" dirty="0">
              <a:solidFill>
                <a:schemeClr val="bg1"/>
              </a:solidFill>
              <a:latin typeface="+mn-lt"/>
              <a:ea typeface="PT Mono"/>
              <a:cs typeface="PT Mono"/>
              <a:sym typeface="PT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2" descr="A green circle with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109741" y="-1475815"/>
            <a:ext cx="4066523" cy="404756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4762" y="-16772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35280" y="3878212"/>
            <a:ext cx="2239782" cy="2195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9526" y="0"/>
            <a:ext cx="233838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10313" y="1683027"/>
            <a:ext cx="2828925" cy="33766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871538" y="426244"/>
            <a:ext cx="7640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FFFFFF"/>
              </a:buClr>
              <a:buSzPts val="4500"/>
            </a:pPr>
            <a:r>
              <a:rPr lang="az-Cyrl-AZ" sz="4000" dirty="0">
                <a:solidFill>
                  <a:schemeClr val="bg1"/>
                </a:solidFill>
              </a:rPr>
              <a:t>Проблеми за решаване</a:t>
            </a:r>
            <a:endParaRPr sz="40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9EBB247-B33A-3E16-4691-9C2864EAD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8720" y="1970434"/>
            <a:ext cx="7082388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bg-BG" altLang="bg-BG" sz="2000" dirty="0">
                <a:solidFill>
                  <a:schemeClr val="bg1"/>
                </a:solidFill>
                <a:latin typeface="Arial" panose="020B0604020202020204" pitchFamily="34" charset="0"/>
              </a:rPr>
              <a:t>1. Липса на свързаност и директна връзка между клиенти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bg-BG" altLang="bg-BG" sz="2000" dirty="0">
                <a:solidFill>
                  <a:schemeClr val="bg1"/>
                </a:solidFill>
                <a:latin typeface="Arial" panose="020B0604020202020204" pitchFamily="34" charset="0"/>
              </a:rPr>
              <a:t>и производители.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bg-BG" altLang="bg-BG" sz="20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bg-BG" altLang="bg-BG" sz="2000" dirty="0">
                <a:solidFill>
                  <a:schemeClr val="bg1"/>
                </a:solidFill>
                <a:latin typeface="Arial" panose="020B0604020202020204" pitchFamily="34" charset="0"/>
              </a:rPr>
              <a:t>2. Разчитане на прекупвачи, вместо на производители.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bg-BG" altLang="bg-BG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bg-BG" altLang="bg-BG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640556" y="502116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Как</a:t>
            </a:r>
            <a:r>
              <a:rPr lang="en-US" sz="4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работи</a:t>
            </a:r>
            <a:r>
              <a:rPr lang="en-US" sz="4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проектът</a:t>
            </a:r>
            <a:endParaRPr sz="4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5" descr="A green circle with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656057" y="2840477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5" descr="A circular logo with a black background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69531" y="107385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1924493" y="1861482"/>
            <a:ext cx="52950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err="1">
                <a:solidFill>
                  <a:schemeClr val="bg1"/>
                </a:solidFill>
              </a:rPr>
              <a:t>Качване</a:t>
            </a:r>
            <a:r>
              <a:rPr lang="ru-RU" sz="2000" dirty="0">
                <a:solidFill>
                  <a:schemeClr val="bg1"/>
                </a:solidFill>
              </a:rPr>
              <a:t> на </a:t>
            </a:r>
            <a:r>
              <a:rPr lang="ru-RU" sz="2000" dirty="0" err="1">
                <a:solidFill>
                  <a:schemeClr val="bg1"/>
                </a:solidFill>
              </a:rPr>
              <a:t>обяви</a:t>
            </a:r>
            <a:r>
              <a:rPr lang="ru-RU" sz="2000" dirty="0">
                <a:solidFill>
                  <a:schemeClr val="bg1"/>
                </a:solidFill>
              </a:rPr>
              <a:t> с цени, </a:t>
            </a:r>
            <a:r>
              <a:rPr lang="ru-RU" sz="2000" dirty="0" err="1">
                <a:solidFill>
                  <a:schemeClr val="bg1"/>
                </a:solidFill>
              </a:rPr>
              <a:t>продукти</a:t>
            </a:r>
            <a:r>
              <a:rPr lang="ru-RU" sz="2000" dirty="0">
                <a:solidFill>
                  <a:schemeClr val="bg1"/>
                </a:solidFill>
              </a:rPr>
              <a:t> и локации, </a:t>
            </a:r>
            <a:r>
              <a:rPr lang="ru-RU" sz="2000" dirty="0" err="1">
                <a:solidFill>
                  <a:schemeClr val="bg1"/>
                </a:solidFill>
              </a:rPr>
              <a:t>както</a:t>
            </a:r>
            <a:r>
              <a:rPr lang="ru-RU" sz="2000" dirty="0">
                <a:solidFill>
                  <a:schemeClr val="bg1"/>
                </a:solidFill>
              </a:rPr>
              <a:t> и </a:t>
            </a:r>
            <a:r>
              <a:rPr lang="ru-RU" sz="2000" dirty="0" err="1">
                <a:solidFill>
                  <a:schemeClr val="bg1"/>
                </a:solidFill>
              </a:rPr>
              <a:t>търсене</a:t>
            </a:r>
            <a:r>
              <a:rPr lang="ru-RU" sz="2000" dirty="0">
                <a:solidFill>
                  <a:schemeClr val="bg1"/>
                </a:solidFill>
              </a:rPr>
              <a:t> с </a:t>
            </a:r>
            <a:r>
              <a:rPr lang="ru-RU" sz="2000" dirty="0" err="1">
                <a:solidFill>
                  <a:schemeClr val="bg1"/>
                </a:solidFill>
              </a:rPr>
              <a:t>филтри</a:t>
            </a:r>
            <a:r>
              <a:rPr lang="ru-RU" sz="2000" dirty="0">
                <a:solidFill>
                  <a:schemeClr val="bg1"/>
                </a:solidFill>
              </a:rPr>
              <a:t> за вид продукт, цена и локация.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 descr="A black circle with yellow line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428486" y="2496639"/>
            <a:ext cx="6686550" cy="668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7" descr="A screen shot of a clock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71607" y="-329453"/>
            <a:ext cx="4133896" cy="650132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7"/>
          <p:cNvSpPr/>
          <p:nvPr/>
        </p:nvSpPr>
        <p:spPr>
          <a:xfrm>
            <a:off x="594836" y="54006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Използвани</a:t>
            </a:r>
            <a:r>
              <a:rPr lang="en-US" sz="4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технологии</a:t>
            </a:r>
            <a:endParaRPr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69652" y="2169907"/>
            <a:ext cx="636890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Backend - Python, Flask;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Database – MongoDB</a:t>
            </a:r>
            <a:r>
              <a:rPr lang="en-GB" sz="2000" dirty="0">
                <a:solidFill>
                  <a:schemeClr val="bg1"/>
                </a:solidFill>
              </a:rPr>
              <a:t>;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GB" sz="2000" dirty="0">
                <a:solidFill>
                  <a:schemeClr val="bg1"/>
                </a:solidFill>
              </a:rPr>
              <a:t>Frontend - </a:t>
            </a:r>
            <a:r>
              <a:rPr lang="en-US" sz="2000" dirty="0">
                <a:solidFill>
                  <a:schemeClr val="bg1"/>
                </a:solidFill>
              </a:rPr>
              <a:t>Vue.js </a:t>
            </a:r>
            <a:r>
              <a:rPr lang="bg-BG" sz="2000" dirty="0">
                <a:solidFill>
                  <a:schemeClr val="bg1"/>
                </a:solidFill>
              </a:rPr>
              <a:t>и </a:t>
            </a:r>
            <a:r>
              <a:rPr lang="en-US" sz="2000" dirty="0">
                <a:solidFill>
                  <a:schemeClr val="bg1"/>
                </a:solidFill>
              </a:rPr>
              <a:t>Tailwind CSS;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6272213" y="3495675"/>
            <a:ext cx="3309938" cy="3309938"/>
          </a:xfrm>
          <a:prstGeom prst="ellipse">
            <a:avLst/>
          </a:prstGeom>
          <a:solidFill>
            <a:srgbClr val="FFB803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213" y="4763"/>
            <a:ext cx="2033588" cy="50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8"/>
          <p:cNvSpPr/>
          <p:nvPr/>
        </p:nvSpPr>
        <p:spPr>
          <a:xfrm>
            <a:off x="640556" y="536831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Процес</a:t>
            </a:r>
            <a:r>
              <a:rPr lang="en-US" sz="4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</a:t>
            </a:r>
            <a:r>
              <a:rPr lang="en-US" sz="4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работа</a:t>
            </a:r>
            <a:endParaRPr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8" descr="A green circle with a black background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3337627" y="3582619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2954689" y="2166287"/>
            <a:ext cx="66350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1. </a:t>
            </a:r>
            <a:r>
              <a:rPr lang="ru-RU" sz="2400" dirty="0" err="1">
                <a:solidFill>
                  <a:schemeClr val="bg1"/>
                </a:solidFill>
              </a:rPr>
              <a:t>Генеране</a:t>
            </a:r>
            <a:r>
              <a:rPr lang="ru-RU" sz="2400" dirty="0">
                <a:solidFill>
                  <a:schemeClr val="bg1"/>
                </a:solidFill>
              </a:rPr>
              <a:t> на идеи</a:t>
            </a:r>
          </a:p>
          <a:p>
            <a:r>
              <a:rPr lang="ru-RU" sz="2400" dirty="0">
                <a:solidFill>
                  <a:schemeClr val="bg1"/>
                </a:solidFill>
              </a:rPr>
              <a:t>2. </a:t>
            </a:r>
            <a:r>
              <a:rPr lang="ru-RU" sz="2400" dirty="0" err="1">
                <a:solidFill>
                  <a:schemeClr val="bg1"/>
                </a:solidFill>
              </a:rPr>
              <a:t>Проучване</a:t>
            </a:r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3. Разработка</a:t>
            </a:r>
          </a:p>
          <a:p>
            <a:r>
              <a:rPr lang="ru-RU" sz="2400" dirty="0">
                <a:solidFill>
                  <a:schemeClr val="bg1"/>
                </a:solidFill>
              </a:rPr>
              <a:t>4.  </a:t>
            </a:r>
            <a:r>
              <a:rPr lang="ru-RU" sz="2400" dirty="0" err="1">
                <a:solidFill>
                  <a:schemeClr val="bg1"/>
                </a:solidFill>
              </a:rPr>
              <a:t>Тестване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2" name="Google Shape;138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87051" y="3389427"/>
            <a:ext cx="2997316" cy="1983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007" y="3255168"/>
            <a:ext cx="272415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0"/>
            <a:ext cx="2809875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/>
          <p:nvPr/>
        </p:nvSpPr>
        <p:spPr>
          <a:xfrm>
            <a:off x="745718" y="707852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bg-BG" sz="4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</a:t>
            </a:r>
            <a:r>
              <a:rPr lang="en-US" sz="4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ашето</a:t>
            </a:r>
            <a:r>
              <a:rPr lang="en-US" sz="4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преживяване</a:t>
            </a:r>
            <a:r>
              <a:rPr lang="bg-BG" sz="4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като екип</a:t>
            </a:r>
            <a:endParaRPr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745718" y="1019175"/>
            <a:ext cx="6633277" cy="125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140625"/>
              </a:lnSpc>
              <a:buClr>
                <a:srgbClr val="FFFFFF"/>
              </a:buClr>
              <a:buSzPts val="2400"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9" descr="A black and gold circle with black lines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7060" y="2824163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37;p1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29166" y="3018184"/>
            <a:ext cx="2090518" cy="2191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9" descr="A black and gold circle with black line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459664" y="-1655361"/>
            <a:ext cx="8864569" cy="8864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24098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/>
          <p:nvPr/>
        </p:nvSpPr>
        <p:spPr>
          <a:xfrm>
            <a:off x="745718" y="685340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75000"/>
              </a:lnSpc>
              <a:buClr>
                <a:srgbClr val="FFFFFF"/>
              </a:buClr>
              <a:buSzPts val="4500"/>
            </a:pPr>
            <a:r>
              <a:rPr lang="az-Cyrl-AZ" sz="4000" dirty="0">
                <a:solidFill>
                  <a:schemeClr val="bg1"/>
                </a:solidFill>
                <a:latin typeface="PT Mono" panose="020B0604020202020204" charset="0"/>
              </a:rPr>
              <a:t>Менторско</a:t>
            </a:r>
            <a:r>
              <a:rPr lang="en-US" sz="4000" dirty="0">
                <a:solidFill>
                  <a:schemeClr val="bg1"/>
                </a:solidFill>
                <a:latin typeface="PT Mono" panose="020B0604020202020204" charset="0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PT Mono" panose="020B0604020202020204" charset="0"/>
                <a:ea typeface="PT Mono"/>
                <a:cs typeface="PT Mono"/>
                <a:sym typeface="PT Mono"/>
              </a:rPr>
              <a:t>преживяване</a:t>
            </a:r>
            <a:endParaRPr sz="4000" dirty="0">
              <a:solidFill>
                <a:schemeClr val="dk1"/>
              </a:solidFill>
              <a:latin typeface="PT Mono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745718" y="1019175"/>
            <a:ext cx="6633277" cy="125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140625"/>
              </a:lnSpc>
              <a:buClr>
                <a:srgbClr val="FFFFFF"/>
              </a:buClr>
              <a:buSzPts val="2400"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46;p11" descr="preencoded.png">
            <a:extLst>
              <a:ext uri="{FF2B5EF4-FFF2-40B4-BE49-F238E27FC236}">
                <a16:creationId xmlns:a16="http://schemas.microsoft.com/office/drawing/2014/main" id="{816CBF65-3C6C-0653-800E-30F400C084F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357077" y="1743460"/>
            <a:ext cx="1023938" cy="20669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2085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05">
          <a:extLst>
            <a:ext uri="{FF2B5EF4-FFF2-40B4-BE49-F238E27FC236}">
              <a16:creationId xmlns:a16="http://schemas.microsoft.com/office/drawing/2014/main" id="{B93021DD-DE50-BBC7-1176-B470A06B7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9" descr="A black and gold circle with black lines&#10;&#10;Description automatically generated">
            <a:extLst>
              <a:ext uri="{FF2B5EF4-FFF2-40B4-BE49-F238E27FC236}">
                <a16:creationId xmlns:a16="http://schemas.microsoft.com/office/drawing/2014/main" id="{FBD6B0D4-2AE2-7F0C-A551-252900DE11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811723" y="-1334930"/>
            <a:ext cx="8864569" cy="8864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">
            <a:extLst>
              <a:ext uri="{FF2B5EF4-FFF2-40B4-BE49-F238E27FC236}">
                <a16:creationId xmlns:a16="http://schemas.microsoft.com/office/drawing/2014/main" id="{B0B7F720-E70D-0BDD-3B44-C56647E73264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9" descr="preencoded.png">
            <a:extLst>
              <a:ext uri="{FF2B5EF4-FFF2-40B4-BE49-F238E27FC236}">
                <a16:creationId xmlns:a16="http://schemas.microsoft.com/office/drawing/2014/main" id="{2ED2E951-064A-9AC4-A5E2-542693CA22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227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>
            <a:extLst>
              <a:ext uri="{FF2B5EF4-FFF2-40B4-BE49-F238E27FC236}">
                <a16:creationId xmlns:a16="http://schemas.microsoft.com/office/drawing/2014/main" id="{A538F5C1-DE7F-07E5-5D3A-016C2628505F}"/>
              </a:ext>
            </a:extLst>
          </p:cNvPr>
          <p:cNvSpPr/>
          <p:nvPr/>
        </p:nvSpPr>
        <p:spPr>
          <a:xfrm>
            <a:off x="745718" y="685340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75000"/>
              </a:lnSpc>
              <a:buClr>
                <a:srgbClr val="FFFFFF"/>
              </a:buClr>
              <a:buSzPts val="4500"/>
            </a:pPr>
            <a:r>
              <a:rPr lang="bg-BG" sz="4000" dirty="0">
                <a:solidFill>
                  <a:schemeClr val="bg1"/>
                </a:solidFill>
                <a:latin typeface="PT Mono" panose="020B0604020202020204" charset="0"/>
                <a:ea typeface="Calibri"/>
                <a:cs typeface="Calibri"/>
                <a:sym typeface="Calibri"/>
              </a:rPr>
              <a:t>Какво научихме?</a:t>
            </a:r>
            <a:endParaRPr sz="4000" dirty="0">
              <a:solidFill>
                <a:schemeClr val="bg1"/>
              </a:solidFill>
              <a:latin typeface="PT Mono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>
            <a:extLst>
              <a:ext uri="{FF2B5EF4-FFF2-40B4-BE49-F238E27FC236}">
                <a16:creationId xmlns:a16="http://schemas.microsoft.com/office/drawing/2014/main" id="{77FFA7E8-0A12-89BC-9146-D4891DC9D532}"/>
              </a:ext>
            </a:extLst>
          </p:cNvPr>
          <p:cNvSpPr/>
          <p:nvPr/>
        </p:nvSpPr>
        <p:spPr>
          <a:xfrm>
            <a:off x="745718" y="1019175"/>
            <a:ext cx="6633277" cy="125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140625"/>
              </a:lnSpc>
              <a:buClr>
                <a:srgbClr val="FFFFFF"/>
              </a:buClr>
              <a:buSzPts val="2400"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147;p11" descr="preencoded.png">
            <a:extLst>
              <a:ext uri="{FF2B5EF4-FFF2-40B4-BE49-F238E27FC236}">
                <a16:creationId xmlns:a16="http://schemas.microsoft.com/office/drawing/2014/main" id="{E931A286-FF47-5A6F-593F-A74C8C5DCA3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08120" y="3685743"/>
            <a:ext cx="1587572" cy="14191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2514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0" descr="A circular object with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21475" y="428319"/>
            <a:ext cx="10786950" cy="1078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0"/>
          <p:cNvSpPr/>
          <p:nvPr/>
        </p:nvSpPr>
        <p:spPr>
          <a:xfrm>
            <a:off x="871538" y="2047875"/>
            <a:ext cx="7862888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5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Благодарим</a:t>
            </a:r>
            <a:r>
              <a:rPr lang="en-US" sz="5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5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ви</a:t>
            </a:r>
            <a:r>
              <a:rPr lang="en-US" sz="5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5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за</a:t>
            </a:r>
            <a:r>
              <a:rPr lang="en-US" sz="5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50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вниманието</a:t>
            </a:r>
            <a:r>
              <a:rPr lang="en-US" sz="50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!</a:t>
            </a:r>
            <a:endParaRPr sz="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3543300" y="3933825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14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010" y="802482"/>
            <a:ext cx="1314450" cy="15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76475" y="768706"/>
            <a:ext cx="1643063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8744" y="2305050"/>
            <a:ext cx="1576388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0556" y="2897980"/>
            <a:ext cx="1619250" cy="1443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66900" y="2195513"/>
            <a:ext cx="1647825" cy="1338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239189" y="1435145"/>
            <a:ext cx="2052637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42807" y="1777734"/>
            <a:ext cx="1589791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297449" y="2648611"/>
            <a:ext cx="2324100" cy="1538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1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007409" y="3838575"/>
            <a:ext cx="809625" cy="966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1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193644" y="566285"/>
            <a:ext cx="3771900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1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424488" y="3462338"/>
            <a:ext cx="6381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1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143875" y="1047750"/>
            <a:ext cx="581025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1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656810" y="3417755"/>
            <a:ext cx="852488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1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919788" y="4300538"/>
            <a:ext cx="881063" cy="681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1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260431" y="3284504"/>
            <a:ext cx="1804988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1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453575" y="961214"/>
            <a:ext cx="1023938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1" descr="preencoded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673659" y="2144646"/>
            <a:ext cx="133350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1"/>
          <p:cNvSpPr/>
          <p:nvPr/>
        </p:nvSpPr>
        <p:spPr>
          <a:xfrm>
            <a:off x="3543300" y="3933825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871538" y="276225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Добрита за използване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1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3631411" y="4517493"/>
            <a:ext cx="1881178" cy="199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178</Words>
  <Application>Microsoft Office PowerPoint</Application>
  <PresentationFormat>Презентация на цял екран (16:9)</PresentationFormat>
  <Paragraphs>46</Paragraphs>
  <Slides>11</Slides>
  <Notes>11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11</vt:i4>
      </vt:variant>
    </vt:vector>
  </HeadingPairs>
  <TitlesOfParts>
    <vt:vector size="15" baseType="lpstr">
      <vt:lpstr>Calibri</vt:lpstr>
      <vt:lpstr>Arial</vt:lpstr>
      <vt:lpstr>PT Mono</vt:lpstr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PptxGenJS</dc:creator>
  <cp:lastModifiedBy>Костадин Костадинов</cp:lastModifiedBy>
  <cp:revision>14</cp:revision>
  <dcterms:created xsi:type="dcterms:W3CDTF">2026-01-15T12:11:17Z</dcterms:created>
  <dcterms:modified xsi:type="dcterms:W3CDTF">2026-03-27T23:47:24Z</dcterms:modified>
</cp:coreProperties>
</file>